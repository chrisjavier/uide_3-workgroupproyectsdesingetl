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5"/>
  </p:notesMasterIdLst>
  <p:sldIdLst>
    <p:sldId id="256" r:id="rId2"/>
    <p:sldId id="273" r:id="rId3"/>
    <p:sldId id="257" r:id="rId4"/>
    <p:sldId id="258" r:id="rId5"/>
    <p:sldId id="259" r:id="rId6"/>
    <p:sldId id="260" r:id="rId7"/>
    <p:sldId id="261" r:id="rId8"/>
    <p:sldId id="263" r:id="rId9"/>
    <p:sldId id="262" r:id="rId10"/>
    <p:sldId id="264" r:id="rId11"/>
    <p:sldId id="265" r:id="rId12"/>
    <p:sldId id="266" r:id="rId13"/>
    <p:sldId id="267" r:id="rId14"/>
    <p:sldId id="268" r:id="rId15"/>
    <p:sldId id="269" r:id="rId16"/>
    <p:sldId id="270" r:id="rId17"/>
    <p:sldId id="271" r:id="rId18"/>
    <p:sldId id="272" r:id="rId19"/>
    <p:sldId id="274" r:id="rId20"/>
    <p:sldId id="275" r:id="rId21"/>
    <p:sldId id="278" r:id="rId22"/>
    <p:sldId id="276" r:id="rId23"/>
    <p:sldId id="279" r:id="rId24"/>
    <p:sldId id="277"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C0DF2-7301-452E-A3DB-8647F2438B96}" type="datetimeFigureOut">
              <a:rPr lang="es-ES" smtClean="0"/>
              <a:t>23/04/2026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A1681C-B09C-4981-AB1F-13C99301EB94}" type="slidenum">
              <a:rPr lang="es-ES" smtClean="0"/>
              <a:t>‹Nº›</a:t>
            </a:fld>
            <a:endParaRPr lang="es-ES"/>
          </a:p>
        </p:txBody>
      </p:sp>
    </p:spTree>
    <p:extLst>
      <p:ext uri="{BB962C8B-B14F-4D97-AF65-F5344CB8AC3E}">
        <p14:creationId xmlns:p14="http://schemas.microsoft.com/office/powerpoint/2010/main" val="2223783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CEA1681C-B09C-4981-AB1F-13C99301EB94}" type="slidenum">
              <a:rPr lang="es-ES" smtClean="0"/>
              <a:t>12</a:t>
            </a:fld>
            <a:endParaRPr lang="es-ES"/>
          </a:p>
        </p:txBody>
      </p:sp>
    </p:spTree>
    <p:extLst>
      <p:ext uri="{BB962C8B-B14F-4D97-AF65-F5344CB8AC3E}">
        <p14:creationId xmlns:p14="http://schemas.microsoft.com/office/powerpoint/2010/main" val="1383925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57DF0-C2B9-2C04-4B37-7F194BF1964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B93B06F-CC45-3902-7D94-6A8B5DCDF8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6FC907-55D7-4934-C111-53336739EDA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0742A9E-9AC5-1A0E-6F00-9AE3634AD1B6}"/>
              </a:ext>
            </a:extLst>
          </p:cNvPr>
          <p:cNvSpPr>
            <a:spLocks noGrp="1"/>
          </p:cNvSpPr>
          <p:nvPr>
            <p:ph type="sldNum" sz="quarter" idx="5"/>
          </p:nvPr>
        </p:nvSpPr>
        <p:spPr/>
        <p:txBody>
          <a:bodyPr/>
          <a:lstStyle/>
          <a:p>
            <a:fld id="{CEA1681C-B09C-4981-AB1F-13C99301EB94}" type="slidenum">
              <a:rPr lang="es-ES" smtClean="0"/>
              <a:t>13</a:t>
            </a:fld>
            <a:endParaRPr lang="es-ES"/>
          </a:p>
        </p:txBody>
      </p:sp>
    </p:spTree>
    <p:extLst>
      <p:ext uri="{BB962C8B-B14F-4D97-AF65-F5344CB8AC3E}">
        <p14:creationId xmlns:p14="http://schemas.microsoft.com/office/powerpoint/2010/main" val="887512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93C31-F8CA-6E36-CF3B-18DC0DE9176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52CF16-8A5D-E640-828B-3D9805137BF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CEF43F-2160-508C-4C3D-25059B43CF8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D745949-7BE8-D013-01DB-6E9B376884AE}"/>
              </a:ext>
            </a:extLst>
          </p:cNvPr>
          <p:cNvSpPr>
            <a:spLocks noGrp="1"/>
          </p:cNvSpPr>
          <p:nvPr>
            <p:ph type="sldNum" sz="quarter" idx="5"/>
          </p:nvPr>
        </p:nvSpPr>
        <p:spPr/>
        <p:txBody>
          <a:bodyPr/>
          <a:lstStyle/>
          <a:p>
            <a:fld id="{CEA1681C-B09C-4981-AB1F-13C99301EB94}" type="slidenum">
              <a:rPr lang="es-ES" smtClean="0"/>
              <a:t>14</a:t>
            </a:fld>
            <a:endParaRPr lang="es-ES"/>
          </a:p>
        </p:txBody>
      </p:sp>
    </p:spTree>
    <p:extLst>
      <p:ext uri="{BB962C8B-B14F-4D97-AF65-F5344CB8AC3E}">
        <p14:creationId xmlns:p14="http://schemas.microsoft.com/office/powerpoint/2010/main" val="2854479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1CD3E-C401-2C93-A712-1115DADA7AF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799995-C3C7-0947-D107-FFDB7839E97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98588D6-FCD3-E032-87C9-4D4EC7D92AF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9484069-6515-2607-04E4-2F890B56317D}"/>
              </a:ext>
            </a:extLst>
          </p:cNvPr>
          <p:cNvSpPr>
            <a:spLocks noGrp="1"/>
          </p:cNvSpPr>
          <p:nvPr>
            <p:ph type="sldNum" sz="quarter" idx="5"/>
          </p:nvPr>
        </p:nvSpPr>
        <p:spPr/>
        <p:txBody>
          <a:bodyPr/>
          <a:lstStyle/>
          <a:p>
            <a:fld id="{CEA1681C-B09C-4981-AB1F-13C99301EB94}" type="slidenum">
              <a:rPr lang="es-ES" smtClean="0"/>
              <a:t>15</a:t>
            </a:fld>
            <a:endParaRPr lang="es-ES"/>
          </a:p>
        </p:txBody>
      </p:sp>
    </p:spTree>
    <p:extLst>
      <p:ext uri="{BB962C8B-B14F-4D97-AF65-F5344CB8AC3E}">
        <p14:creationId xmlns:p14="http://schemas.microsoft.com/office/powerpoint/2010/main" val="529389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75968-CBBD-7F5B-0CF8-471DF0305B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A3381C-F3BF-A8E4-87E7-88BA84B82AC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8A9F91-43FB-227C-ECFF-D32A2B2E7C0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34520A0-3651-1F2A-C584-B4C4CEC90CA2}"/>
              </a:ext>
            </a:extLst>
          </p:cNvPr>
          <p:cNvSpPr>
            <a:spLocks noGrp="1"/>
          </p:cNvSpPr>
          <p:nvPr>
            <p:ph type="sldNum" sz="quarter" idx="5"/>
          </p:nvPr>
        </p:nvSpPr>
        <p:spPr/>
        <p:txBody>
          <a:bodyPr/>
          <a:lstStyle/>
          <a:p>
            <a:fld id="{CEA1681C-B09C-4981-AB1F-13C99301EB94}" type="slidenum">
              <a:rPr lang="es-ES" smtClean="0"/>
              <a:t>16</a:t>
            </a:fld>
            <a:endParaRPr lang="es-ES"/>
          </a:p>
        </p:txBody>
      </p:sp>
    </p:spTree>
    <p:extLst>
      <p:ext uri="{BB962C8B-B14F-4D97-AF65-F5344CB8AC3E}">
        <p14:creationId xmlns:p14="http://schemas.microsoft.com/office/powerpoint/2010/main" val="1909564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C05C7-3926-2FDB-0D44-E0D1817ECF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1FBADEB-06A9-D02C-6A00-3E84336EA2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B649A61-868C-0416-87A1-9210A908A4F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03758CB-23D5-13A5-DBA1-CA68DB0081D3}"/>
              </a:ext>
            </a:extLst>
          </p:cNvPr>
          <p:cNvSpPr>
            <a:spLocks noGrp="1"/>
          </p:cNvSpPr>
          <p:nvPr>
            <p:ph type="sldNum" sz="quarter" idx="5"/>
          </p:nvPr>
        </p:nvSpPr>
        <p:spPr/>
        <p:txBody>
          <a:bodyPr/>
          <a:lstStyle/>
          <a:p>
            <a:fld id="{CEA1681C-B09C-4981-AB1F-13C99301EB94}" type="slidenum">
              <a:rPr lang="es-ES" smtClean="0"/>
              <a:t>17</a:t>
            </a:fld>
            <a:endParaRPr lang="es-ES"/>
          </a:p>
        </p:txBody>
      </p:sp>
    </p:spTree>
    <p:extLst>
      <p:ext uri="{BB962C8B-B14F-4D97-AF65-F5344CB8AC3E}">
        <p14:creationId xmlns:p14="http://schemas.microsoft.com/office/powerpoint/2010/main" val="181591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E530C-9800-8FE0-7C5E-D5706082AC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D5E0FB-FC18-AA69-A7D6-C5AAEBE313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A77FB2E-5709-9389-440B-0CAE9AC8F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7E67EA9-7415-2B9E-700B-D2CEA671247C}"/>
              </a:ext>
            </a:extLst>
          </p:cNvPr>
          <p:cNvSpPr>
            <a:spLocks noGrp="1"/>
          </p:cNvSpPr>
          <p:nvPr>
            <p:ph type="sldNum" sz="quarter" idx="5"/>
          </p:nvPr>
        </p:nvSpPr>
        <p:spPr/>
        <p:txBody>
          <a:bodyPr/>
          <a:lstStyle/>
          <a:p>
            <a:fld id="{CEA1681C-B09C-4981-AB1F-13C99301EB94}" type="slidenum">
              <a:rPr lang="es-ES" smtClean="0"/>
              <a:t>18</a:t>
            </a:fld>
            <a:endParaRPr lang="es-ES"/>
          </a:p>
        </p:txBody>
      </p:sp>
    </p:spTree>
    <p:extLst>
      <p:ext uri="{BB962C8B-B14F-4D97-AF65-F5344CB8AC3E}">
        <p14:creationId xmlns:p14="http://schemas.microsoft.com/office/powerpoint/2010/main" val="693521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4BA0E-6534-FDB4-4131-D497F9D8DD1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2887C6-4836-16FE-F028-462197BB58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E518DD8-8FDB-62D8-B645-855240E724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554A7C8-FB4C-B199-8D11-21AE5F5D9564}"/>
              </a:ext>
            </a:extLst>
          </p:cNvPr>
          <p:cNvSpPr>
            <a:spLocks noGrp="1"/>
          </p:cNvSpPr>
          <p:nvPr>
            <p:ph type="sldNum" sz="quarter" idx="5"/>
          </p:nvPr>
        </p:nvSpPr>
        <p:spPr/>
        <p:txBody>
          <a:bodyPr/>
          <a:lstStyle/>
          <a:p>
            <a:fld id="{CEA1681C-B09C-4981-AB1F-13C99301EB94}" type="slidenum">
              <a:rPr lang="es-ES" smtClean="0"/>
              <a:t>20</a:t>
            </a:fld>
            <a:endParaRPr lang="es-ES"/>
          </a:p>
        </p:txBody>
      </p:sp>
    </p:spTree>
    <p:extLst>
      <p:ext uri="{BB962C8B-B14F-4D97-AF65-F5344CB8AC3E}">
        <p14:creationId xmlns:p14="http://schemas.microsoft.com/office/powerpoint/2010/main" val="2608306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51617-02C5-6143-C902-DA3F3AD056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F04FB0A-16BC-D85B-44E7-A46CA372C84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133CD65-7333-7975-C12F-C9221308D5E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9C1F8E0-ADF1-283C-8F81-60CEA082049E}"/>
              </a:ext>
            </a:extLst>
          </p:cNvPr>
          <p:cNvSpPr>
            <a:spLocks noGrp="1"/>
          </p:cNvSpPr>
          <p:nvPr>
            <p:ph type="sldNum" sz="quarter" idx="5"/>
          </p:nvPr>
        </p:nvSpPr>
        <p:spPr/>
        <p:txBody>
          <a:bodyPr/>
          <a:lstStyle/>
          <a:p>
            <a:fld id="{CEA1681C-B09C-4981-AB1F-13C99301EB94}" type="slidenum">
              <a:rPr lang="es-ES" smtClean="0"/>
              <a:t>21</a:t>
            </a:fld>
            <a:endParaRPr lang="es-ES"/>
          </a:p>
        </p:txBody>
      </p:sp>
    </p:spTree>
    <p:extLst>
      <p:ext uri="{BB962C8B-B14F-4D97-AF65-F5344CB8AC3E}">
        <p14:creationId xmlns:p14="http://schemas.microsoft.com/office/powerpoint/2010/main" val="3744991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473A4-2555-E3F7-CDB4-B46C0A71AF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965B06-62A6-65A4-7A81-3B7A869C814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41A7A70-EB62-DF39-2705-70757E45BBA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553ACFB-51D6-9779-E71A-F759F2BC5D1F}"/>
              </a:ext>
            </a:extLst>
          </p:cNvPr>
          <p:cNvSpPr>
            <a:spLocks noGrp="1"/>
          </p:cNvSpPr>
          <p:nvPr>
            <p:ph type="sldNum" sz="quarter" idx="5"/>
          </p:nvPr>
        </p:nvSpPr>
        <p:spPr/>
        <p:txBody>
          <a:bodyPr/>
          <a:lstStyle/>
          <a:p>
            <a:fld id="{CEA1681C-B09C-4981-AB1F-13C99301EB94}" type="slidenum">
              <a:rPr lang="es-ES" smtClean="0"/>
              <a:t>22</a:t>
            </a:fld>
            <a:endParaRPr lang="es-ES"/>
          </a:p>
        </p:txBody>
      </p:sp>
    </p:spTree>
    <p:extLst>
      <p:ext uri="{BB962C8B-B14F-4D97-AF65-F5344CB8AC3E}">
        <p14:creationId xmlns:p14="http://schemas.microsoft.com/office/powerpoint/2010/main" val="16781566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CC56F-9893-CF50-6D20-2DE06B156CF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C833F54-8EFD-2EA0-295F-444F6A61E3D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B71083-817A-DB9C-780B-7F80FBD9863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9D00CBA-4EA5-0CE0-9618-9B16580CFA44}"/>
              </a:ext>
            </a:extLst>
          </p:cNvPr>
          <p:cNvSpPr>
            <a:spLocks noGrp="1"/>
          </p:cNvSpPr>
          <p:nvPr>
            <p:ph type="sldNum" sz="quarter" idx="5"/>
          </p:nvPr>
        </p:nvSpPr>
        <p:spPr/>
        <p:txBody>
          <a:bodyPr/>
          <a:lstStyle/>
          <a:p>
            <a:fld id="{CEA1681C-B09C-4981-AB1F-13C99301EB94}" type="slidenum">
              <a:rPr lang="es-ES" smtClean="0"/>
              <a:t>23</a:t>
            </a:fld>
            <a:endParaRPr lang="es-ES"/>
          </a:p>
        </p:txBody>
      </p:sp>
    </p:spTree>
    <p:extLst>
      <p:ext uri="{BB962C8B-B14F-4D97-AF65-F5344CB8AC3E}">
        <p14:creationId xmlns:p14="http://schemas.microsoft.com/office/powerpoint/2010/main" val="29034999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C1492-96B3-C987-BF48-B9F1B31FD3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639E26-81F8-9367-3C9D-8DE77D65E5A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083245A-A7B7-2096-4B68-670E8DD73C3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11F2982-79D2-AEF2-D791-F63FC6696BE3}"/>
              </a:ext>
            </a:extLst>
          </p:cNvPr>
          <p:cNvSpPr>
            <a:spLocks noGrp="1"/>
          </p:cNvSpPr>
          <p:nvPr>
            <p:ph type="sldNum" sz="quarter" idx="5"/>
          </p:nvPr>
        </p:nvSpPr>
        <p:spPr/>
        <p:txBody>
          <a:bodyPr/>
          <a:lstStyle/>
          <a:p>
            <a:fld id="{CEA1681C-B09C-4981-AB1F-13C99301EB94}" type="slidenum">
              <a:rPr lang="es-ES" smtClean="0"/>
              <a:t>24</a:t>
            </a:fld>
            <a:endParaRPr lang="es-ES"/>
          </a:p>
        </p:txBody>
      </p:sp>
    </p:spTree>
    <p:extLst>
      <p:ext uri="{BB962C8B-B14F-4D97-AF65-F5344CB8AC3E}">
        <p14:creationId xmlns:p14="http://schemas.microsoft.com/office/powerpoint/2010/main" val="4151820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B0DDC-75FF-FB95-AC7D-AC97785837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B2460E-FC3E-4650-7E62-A5E1B2AC04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994D0E7-63A1-F768-4187-EF04A6B23E8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93E691C-0ACD-4A42-09EE-CD9E600843B1}"/>
              </a:ext>
            </a:extLst>
          </p:cNvPr>
          <p:cNvSpPr>
            <a:spLocks noGrp="1"/>
          </p:cNvSpPr>
          <p:nvPr>
            <p:ph type="sldNum" sz="quarter" idx="5"/>
          </p:nvPr>
        </p:nvSpPr>
        <p:spPr/>
        <p:txBody>
          <a:bodyPr/>
          <a:lstStyle/>
          <a:p>
            <a:fld id="{CEA1681C-B09C-4981-AB1F-13C99301EB94}" type="slidenum">
              <a:rPr lang="es-ES" smtClean="0"/>
              <a:t>25</a:t>
            </a:fld>
            <a:endParaRPr lang="es-ES"/>
          </a:p>
        </p:txBody>
      </p:sp>
    </p:spTree>
    <p:extLst>
      <p:ext uri="{BB962C8B-B14F-4D97-AF65-F5344CB8AC3E}">
        <p14:creationId xmlns:p14="http://schemas.microsoft.com/office/powerpoint/2010/main" val="28763002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FE747-FE48-9B6E-AC03-7CF2B471EE8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6466A0-B910-B3E8-C642-0E1298426C6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B095FBD-BD78-9E45-A307-269469B89D0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A989C6-6B07-B4B5-1987-02746665E9FB}"/>
              </a:ext>
            </a:extLst>
          </p:cNvPr>
          <p:cNvSpPr>
            <a:spLocks noGrp="1"/>
          </p:cNvSpPr>
          <p:nvPr>
            <p:ph type="sldNum" sz="quarter" idx="5"/>
          </p:nvPr>
        </p:nvSpPr>
        <p:spPr/>
        <p:txBody>
          <a:bodyPr/>
          <a:lstStyle/>
          <a:p>
            <a:fld id="{CEA1681C-B09C-4981-AB1F-13C99301EB94}" type="slidenum">
              <a:rPr lang="es-ES" smtClean="0"/>
              <a:t>26</a:t>
            </a:fld>
            <a:endParaRPr lang="es-ES"/>
          </a:p>
        </p:txBody>
      </p:sp>
    </p:spTree>
    <p:extLst>
      <p:ext uri="{BB962C8B-B14F-4D97-AF65-F5344CB8AC3E}">
        <p14:creationId xmlns:p14="http://schemas.microsoft.com/office/powerpoint/2010/main" val="2661980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116B1-6754-93C9-E88B-C49C44976F9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5A81BE-599A-330F-BF4E-6BAA8A01ECC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F250D4-499B-8B5D-F59F-E1CC6180F8D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8191CC3-7FC4-AB8B-77DE-31A11EF66ADE}"/>
              </a:ext>
            </a:extLst>
          </p:cNvPr>
          <p:cNvSpPr>
            <a:spLocks noGrp="1"/>
          </p:cNvSpPr>
          <p:nvPr>
            <p:ph type="sldNum" sz="quarter" idx="5"/>
          </p:nvPr>
        </p:nvSpPr>
        <p:spPr/>
        <p:txBody>
          <a:bodyPr/>
          <a:lstStyle/>
          <a:p>
            <a:fld id="{CEA1681C-B09C-4981-AB1F-13C99301EB94}" type="slidenum">
              <a:rPr lang="es-ES" smtClean="0"/>
              <a:t>27</a:t>
            </a:fld>
            <a:endParaRPr lang="es-ES"/>
          </a:p>
        </p:txBody>
      </p:sp>
    </p:spTree>
    <p:extLst>
      <p:ext uri="{BB962C8B-B14F-4D97-AF65-F5344CB8AC3E}">
        <p14:creationId xmlns:p14="http://schemas.microsoft.com/office/powerpoint/2010/main" val="29744427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3BAD9-609B-F43D-FDED-C5C7459511A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B69F45-8F32-C0C3-B309-7617B3483E3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51E805-04E5-CD40-DBF8-F92FB96CBBC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EBE216B-9F51-61B8-D9E1-989EAFC1F815}"/>
              </a:ext>
            </a:extLst>
          </p:cNvPr>
          <p:cNvSpPr>
            <a:spLocks noGrp="1"/>
          </p:cNvSpPr>
          <p:nvPr>
            <p:ph type="sldNum" sz="quarter" idx="5"/>
          </p:nvPr>
        </p:nvSpPr>
        <p:spPr/>
        <p:txBody>
          <a:bodyPr/>
          <a:lstStyle/>
          <a:p>
            <a:fld id="{CEA1681C-B09C-4981-AB1F-13C99301EB94}" type="slidenum">
              <a:rPr lang="es-ES" smtClean="0"/>
              <a:t>28</a:t>
            </a:fld>
            <a:endParaRPr lang="es-ES"/>
          </a:p>
        </p:txBody>
      </p:sp>
    </p:spTree>
    <p:extLst>
      <p:ext uri="{BB962C8B-B14F-4D97-AF65-F5344CB8AC3E}">
        <p14:creationId xmlns:p14="http://schemas.microsoft.com/office/powerpoint/2010/main" val="17072573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E5277-91CE-6B1B-25FD-1800AEF2C3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B7DE3B5-E891-A641-B1BE-FE42FBF5E8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9726EEE-906E-5311-0401-835B91B0A9C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6A5B6FB-36A0-B883-0E5B-5D121066E483}"/>
              </a:ext>
            </a:extLst>
          </p:cNvPr>
          <p:cNvSpPr>
            <a:spLocks noGrp="1"/>
          </p:cNvSpPr>
          <p:nvPr>
            <p:ph type="sldNum" sz="quarter" idx="5"/>
          </p:nvPr>
        </p:nvSpPr>
        <p:spPr/>
        <p:txBody>
          <a:bodyPr/>
          <a:lstStyle/>
          <a:p>
            <a:fld id="{CEA1681C-B09C-4981-AB1F-13C99301EB94}" type="slidenum">
              <a:rPr lang="es-ES" smtClean="0"/>
              <a:t>29</a:t>
            </a:fld>
            <a:endParaRPr lang="es-ES"/>
          </a:p>
        </p:txBody>
      </p:sp>
    </p:spTree>
    <p:extLst>
      <p:ext uri="{BB962C8B-B14F-4D97-AF65-F5344CB8AC3E}">
        <p14:creationId xmlns:p14="http://schemas.microsoft.com/office/powerpoint/2010/main" val="30928859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EBC2C-CB91-D477-997F-8448C229B05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7A2121-F3AE-04AE-9570-8260F2404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4D05CE0-A2B2-D9F2-250D-BC7F2E596C0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5BB509B-B16F-30F0-FD50-F9807468E56B}"/>
              </a:ext>
            </a:extLst>
          </p:cNvPr>
          <p:cNvSpPr>
            <a:spLocks noGrp="1"/>
          </p:cNvSpPr>
          <p:nvPr>
            <p:ph type="sldNum" sz="quarter" idx="5"/>
          </p:nvPr>
        </p:nvSpPr>
        <p:spPr/>
        <p:txBody>
          <a:bodyPr/>
          <a:lstStyle/>
          <a:p>
            <a:fld id="{CEA1681C-B09C-4981-AB1F-13C99301EB94}" type="slidenum">
              <a:rPr lang="es-ES" smtClean="0"/>
              <a:t>30</a:t>
            </a:fld>
            <a:endParaRPr lang="es-ES"/>
          </a:p>
        </p:txBody>
      </p:sp>
    </p:spTree>
    <p:extLst>
      <p:ext uri="{BB962C8B-B14F-4D97-AF65-F5344CB8AC3E}">
        <p14:creationId xmlns:p14="http://schemas.microsoft.com/office/powerpoint/2010/main" val="27979859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EC742-1ABD-99AC-ADDA-DA1A61919E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F2B615C-55AA-6C46-9B95-3F380E44D9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1E94539-166E-6A47-6F7A-9F2999F1D93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4BEDACC-732E-EC2F-121E-F7B0B2106E19}"/>
              </a:ext>
            </a:extLst>
          </p:cNvPr>
          <p:cNvSpPr>
            <a:spLocks noGrp="1"/>
          </p:cNvSpPr>
          <p:nvPr>
            <p:ph type="sldNum" sz="quarter" idx="5"/>
          </p:nvPr>
        </p:nvSpPr>
        <p:spPr/>
        <p:txBody>
          <a:bodyPr/>
          <a:lstStyle/>
          <a:p>
            <a:fld id="{CEA1681C-B09C-4981-AB1F-13C99301EB94}" type="slidenum">
              <a:rPr lang="es-ES" smtClean="0"/>
              <a:t>31</a:t>
            </a:fld>
            <a:endParaRPr lang="es-ES"/>
          </a:p>
        </p:txBody>
      </p:sp>
    </p:spTree>
    <p:extLst>
      <p:ext uri="{BB962C8B-B14F-4D97-AF65-F5344CB8AC3E}">
        <p14:creationId xmlns:p14="http://schemas.microsoft.com/office/powerpoint/2010/main" val="39003634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0B4F8-5303-C791-5869-F6F53C93DAE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4FB245-EE87-367E-4965-663D941B78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AA775A5-55BC-5FBC-476F-58EFD92252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E9D915A-9736-B515-AF51-12E3B14D21C1}"/>
              </a:ext>
            </a:extLst>
          </p:cNvPr>
          <p:cNvSpPr>
            <a:spLocks noGrp="1"/>
          </p:cNvSpPr>
          <p:nvPr>
            <p:ph type="sldNum" sz="quarter" idx="5"/>
          </p:nvPr>
        </p:nvSpPr>
        <p:spPr/>
        <p:txBody>
          <a:bodyPr/>
          <a:lstStyle/>
          <a:p>
            <a:fld id="{CEA1681C-B09C-4981-AB1F-13C99301EB94}" type="slidenum">
              <a:rPr lang="es-ES" smtClean="0"/>
              <a:t>32</a:t>
            </a:fld>
            <a:endParaRPr lang="es-ES"/>
          </a:p>
        </p:txBody>
      </p:sp>
    </p:spTree>
    <p:extLst>
      <p:ext uri="{BB962C8B-B14F-4D97-AF65-F5344CB8AC3E}">
        <p14:creationId xmlns:p14="http://schemas.microsoft.com/office/powerpoint/2010/main" val="11785921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3E7D0-C8E3-86DB-74E1-6295F3FED3F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584EC5C-4E21-732D-ACE1-79D94F13E9D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A38200-E1E8-20D1-01FC-576EBE8F1E8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56C6FCD-437A-E850-2D11-B85068FBCF04}"/>
              </a:ext>
            </a:extLst>
          </p:cNvPr>
          <p:cNvSpPr>
            <a:spLocks noGrp="1"/>
          </p:cNvSpPr>
          <p:nvPr>
            <p:ph type="sldNum" sz="quarter" idx="5"/>
          </p:nvPr>
        </p:nvSpPr>
        <p:spPr/>
        <p:txBody>
          <a:bodyPr/>
          <a:lstStyle/>
          <a:p>
            <a:fld id="{CEA1681C-B09C-4981-AB1F-13C99301EB94}" type="slidenum">
              <a:rPr lang="es-ES" smtClean="0"/>
              <a:t>33</a:t>
            </a:fld>
            <a:endParaRPr lang="es-ES"/>
          </a:p>
        </p:txBody>
      </p:sp>
    </p:spTree>
    <p:extLst>
      <p:ext uri="{BB962C8B-B14F-4D97-AF65-F5344CB8AC3E}">
        <p14:creationId xmlns:p14="http://schemas.microsoft.com/office/powerpoint/2010/main" val="1767855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D31FE3FE-76F8-42BA-9D1D-4770D21D5F6B}" type="datetimeFigureOut">
              <a:rPr lang="es-ES" smtClean="0"/>
              <a:t>23/04/2026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814708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31FE3FE-76F8-42BA-9D1D-4770D21D5F6B}" type="datetimeFigureOut">
              <a:rPr lang="es-ES" smtClean="0"/>
              <a:t>23/04/2026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14181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D31FE3FE-76F8-42BA-9D1D-4770D21D5F6B}" type="datetimeFigureOut">
              <a:rPr lang="es-ES" smtClean="0"/>
              <a:t>23/04/2026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482705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D31FE3FE-76F8-42BA-9D1D-4770D21D5F6B}" type="datetimeFigureOut">
              <a:rPr lang="es-ES" smtClean="0"/>
              <a:t>23/04/2026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2440959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D31FE3FE-76F8-42BA-9D1D-4770D21D5F6B}" type="datetimeFigureOut">
              <a:rPr lang="es-ES" smtClean="0"/>
              <a:t>23/04/2026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3647429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D31FE3FE-76F8-42BA-9D1D-4770D21D5F6B}" type="datetimeFigureOut">
              <a:rPr lang="es-ES" smtClean="0"/>
              <a:t>23/04/2026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343597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1FE3FE-76F8-42BA-9D1D-4770D21D5F6B}" type="datetimeFigureOut">
              <a:rPr lang="es-ES" smtClean="0"/>
              <a:t>23/04/2026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421576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23/04/2026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3119431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23/04/2026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3892772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23/04/2026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502543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23/04/2026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9581183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23/04/2026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801171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23/04/2026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629590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D31FE3FE-76F8-42BA-9D1D-4770D21D5F6B}" type="datetimeFigureOut">
              <a:rPr lang="es-ES" smtClean="0"/>
              <a:t>23/04/2026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1242566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D31FE3FE-76F8-42BA-9D1D-4770D21D5F6B}" type="datetimeFigureOut">
              <a:rPr lang="es-ES" smtClean="0"/>
              <a:t>23/04/2026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24000445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31FE3FE-76F8-42BA-9D1D-4770D21D5F6B}" type="datetimeFigureOut">
              <a:rPr lang="es-ES" smtClean="0"/>
              <a:t>23/04/2026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9728996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31FE3FE-76F8-42BA-9D1D-4770D21D5F6B}" type="datetimeFigureOut">
              <a:rPr lang="es-ES" smtClean="0"/>
              <a:t>23/04/2026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745979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31FE3FE-76F8-42BA-9D1D-4770D21D5F6B}" type="datetimeFigureOut">
              <a:rPr lang="es-ES" smtClean="0"/>
              <a:t>23/04/2026</a:t>
            </a:fld>
            <a:endParaRPr lang="es-E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s-E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F0B2549-CBAC-42F6-98C1-63B41DEF1AC7}" type="slidenum">
              <a:rPr lang="es-ES" smtClean="0"/>
              <a:t>‹Nº›</a:t>
            </a:fld>
            <a:endParaRPr lang="es-ES"/>
          </a:p>
        </p:txBody>
      </p:sp>
    </p:spTree>
    <p:extLst>
      <p:ext uri="{BB962C8B-B14F-4D97-AF65-F5344CB8AC3E}">
        <p14:creationId xmlns:p14="http://schemas.microsoft.com/office/powerpoint/2010/main" val="3289907064"/>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664F6A-8285-41F1-5AB9-3296D60A7B05}"/>
              </a:ext>
            </a:extLst>
          </p:cNvPr>
          <p:cNvSpPr>
            <a:spLocks noGrp="1"/>
          </p:cNvSpPr>
          <p:nvPr>
            <p:ph type="ctrTitle"/>
          </p:nvPr>
        </p:nvSpPr>
        <p:spPr/>
        <p:txBody>
          <a:bodyPr/>
          <a:lstStyle/>
          <a:p>
            <a:r>
              <a:rPr lang="es-ES" dirty="0">
                <a:solidFill>
                  <a:schemeClr val="tx1"/>
                </a:solidFill>
                <a:latin typeface="Calibri" panose="020F0502020204030204" pitchFamily="34" charset="0"/>
                <a:ea typeface="Calibri" panose="020F0502020204030204" pitchFamily="34" charset="0"/>
                <a:cs typeface="Calibri" panose="020F0502020204030204" pitchFamily="34" charset="0"/>
              </a:rPr>
              <a:t>Diseño de procesos ETL</a:t>
            </a:r>
          </a:p>
        </p:txBody>
      </p:sp>
      <p:sp>
        <p:nvSpPr>
          <p:cNvPr id="3" name="Subtítulo 2">
            <a:extLst>
              <a:ext uri="{FF2B5EF4-FFF2-40B4-BE49-F238E27FC236}">
                <a16:creationId xmlns:a16="http://schemas.microsoft.com/office/drawing/2014/main" id="{543A56EF-9E00-15B4-E8DF-71B4A437998B}"/>
              </a:ext>
            </a:extLst>
          </p:cNvPr>
          <p:cNvSpPr>
            <a:spLocks noGrp="1"/>
          </p:cNvSpPr>
          <p:nvPr>
            <p:ph type="subTitle" idx="1"/>
          </p:nvPr>
        </p:nvSpPr>
        <p:spPr/>
        <p:txBody>
          <a:bodyPr/>
          <a:lstStyle/>
          <a:p>
            <a:r>
              <a:rPr lang="es-ES" dirty="0">
                <a:solidFill>
                  <a:schemeClr val="tx1"/>
                </a:solidFill>
                <a:latin typeface="Calibri" panose="020F0502020204030204" pitchFamily="34" charset="0"/>
                <a:ea typeface="Calibri" panose="020F0502020204030204" pitchFamily="34" charset="0"/>
                <a:cs typeface="Calibri" panose="020F0502020204030204" pitchFamily="34" charset="0"/>
              </a:rPr>
              <a:t>Juan Sebastián Arbeláez Trujillo</a:t>
            </a:r>
          </a:p>
        </p:txBody>
      </p:sp>
    </p:spTree>
    <p:extLst>
      <p:ext uri="{BB962C8B-B14F-4D97-AF65-F5344CB8AC3E}">
        <p14:creationId xmlns:p14="http://schemas.microsoft.com/office/powerpoint/2010/main" val="2000072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5E109-867F-1EDD-4C19-4326456C5BA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42EF422-87EC-A58F-3C37-5BC13296168D}"/>
              </a:ext>
            </a:extLst>
          </p:cNvPr>
          <p:cNvSpPr>
            <a:spLocks noGrp="1"/>
          </p:cNvSpPr>
          <p:nvPr>
            <p:ph type="ctrTitle"/>
          </p:nvPr>
        </p:nvSpPr>
        <p:spPr/>
        <p:txBody>
          <a:bodyPr/>
          <a:lstStyle/>
          <a:p>
            <a:r>
              <a:rPr lang="es-ES" dirty="0">
                <a:solidFill>
                  <a:schemeClr val="tx1"/>
                </a:solidFill>
                <a:latin typeface="Calibri" panose="020F0502020204030204" pitchFamily="34" charset="0"/>
                <a:ea typeface="Calibri" panose="020F0502020204030204" pitchFamily="34" charset="0"/>
                <a:cs typeface="Calibri" panose="020F0502020204030204" pitchFamily="34" charset="0"/>
              </a:rPr>
              <a:t>Semana 1</a:t>
            </a:r>
          </a:p>
        </p:txBody>
      </p:sp>
    </p:spTree>
    <p:extLst>
      <p:ext uri="{BB962C8B-B14F-4D97-AF65-F5344CB8AC3E}">
        <p14:creationId xmlns:p14="http://schemas.microsoft.com/office/powerpoint/2010/main" val="4000996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9FE94D-786A-7F76-10D1-47D465089D63}"/>
              </a:ext>
            </a:extLst>
          </p:cNvPr>
          <p:cNvSpPr>
            <a:spLocks noGrp="1"/>
          </p:cNvSpPr>
          <p:nvPr>
            <p:ph type="title"/>
          </p:nvPr>
        </p:nvSpPr>
        <p:spPr/>
        <p:txBody>
          <a:bodyPr>
            <a:normAutofit/>
          </a:bodyPr>
          <a:lstStyle/>
          <a:p>
            <a:r>
              <a:rPr lang="es-ES" b="1" dirty="0">
                <a:latin typeface="Calibri" panose="020F0502020204030204" pitchFamily="34" charset="0"/>
                <a:ea typeface="Calibri" panose="020F0502020204030204" pitchFamily="34" charset="0"/>
                <a:cs typeface="Calibri" panose="020F0502020204030204" pitchFamily="34" charset="0"/>
              </a:rPr>
              <a:t>Caso: "Librería El Faro"</a:t>
            </a:r>
            <a:endParaRPr lang="es-ES" dirty="0">
              <a:latin typeface="Calibri" panose="020F0502020204030204" pitchFamily="34" charset="0"/>
              <a:ea typeface="Calibri" panose="020F0502020204030204" pitchFamily="34" charset="0"/>
              <a:cs typeface="Calibri" panose="020F0502020204030204" pitchFamily="34" charset="0"/>
            </a:endParaRPr>
          </a:p>
        </p:txBody>
      </p:sp>
      <p:sp>
        <p:nvSpPr>
          <p:cNvPr id="3" name="Marcador de contenido 2">
            <a:extLst>
              <a:ext uri="{FF2B5EF4-FFF2-40B4-BE49-F238E27FC236}">
                <a16:creationId xmlns:a16="http://schemas.microsoft.com/office/drawing/2014/main" id="{8467ECA3-1A5F-5F8C-0585-468D19CA0E38}"/>
              </a:ext>
            </a:extLst>
          </p:cNvPr>
          <p:cNvSpPr>
            <a:spLocks noGrp="1"/>
          </p:cNvSpPr>
          <p:nvPr>
            <p:ph idx="1"/>
          </p:nvPr>
        </p:nvSpPr>
        <p:spPr>
          <a:xfrm>
            <a:off x="374299" y="1796457"/>
            <a:ext cx="6426551" cy="3870918"/>
          </a:xfrm>
        </p:spPr>
        <p:txBody>
          <a:bodyPr>
            <a:normAutofit fontScale="85000" lnSpcReduction="10000"/>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Librería </a:t>
            </a:r>
            <a:r>
              <a:rPr lang="es-ES" b="1" dirty="0">
                <a:latin typeface="Calibri" panose="020F0502020204030204" pitchFamily="34" charset="0"/>
                <a:ea typeface="Calibri" panose="020F0502020204030204" pitchFamily="34" charset="0"/>
                <a:cs typeface="Calibri" panose="020F0502020204030204" pitchFamily="34" charset="0"/>
              </a:rPr>
              <a:t>El Faro </a:t>
            </a:r>
            <a:r>
              <a:rPr lang="es-ES" dirty="0">
                <a:latin typeface="Calibri" panose="020F0502020204030204" pitchFamily="34" charset="0"/>
                <a:ea typeface="Calibri" panose="020F0502020204030204" pitchFamily="34" charset="0"/>
                <a:cs typeface="Calibri" panose="020F0502020204030204" pitchFamily="34" charset="0"/>
              </a:rPr>
              <a:t>comenzó como un pequeño local en el centro de la ciudad. Con el tiempo, abrieron dos sucursales más y lanzaron una página web para vender en línea. Sin embargo, cada parte del negocio opera como una isla separada: el inventario de la tienda física se lleva en un programa antiguo, las ventas por internet están en una plataforma web distinta, y el servicio de atención al cliente anota los reclamos y pedidos especiales en un archivo de Excel.</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Este desorden genera problemas a diario. A veces, un cliente compra un libro en la página web que ya se había vendido esa misma mañana en la tienda física, porque los sistemas no se comunican. Además, si un cliente habitual llama para quejarse de un envío retrasado, el equipo de atención al cliente no tiene forma de ver su historial de compras en la tienda física para ofrecerle una compensación adecuada, perdiendo la oportunidad de fidelizarlo.</a:t>
            </a:r>
          </a:p>
          <a:p>
            <a:pPr marL="36900" indent="0" algn="just">
              <a:buNone/>
            </a:pPr>
            <a:endParaRPr lang="es-ES" dirty="0">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descr="dibujos animados librería interior con libros en estantería 24232025 Vector  en Vecteezy">
            <a:extLst>
              <a:ext uri="{FF2B5EF4-FFF2-40B4-BE49-F238E27FC236}">
                <a16:creationId xmlns:a16="http://schemas.microsoft.com/office/drawing/2014/main" id="{26DBDF27-1067-53F2-6390-3AB5128E22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3635882"/>
            <a:ext cx="4972050" cy="2237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5275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F8AC6-84AB-1B2B-4DA5-A55E80E606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45AD500-4261-88A6-15F7-93AF0AF3B222}"/>
              </a:ext>
            </a:extLst>
          </p:cNvPr>
          <p:cNvSpPr>
            <a:spLocks noGrp="1"/>
          </p:cNvSpPr>
          <p:nvPr>
            <p:ph type="title"/>
          </p:nvPr>
        </p:nvSpPr>
        <p:spPr/>
        <p:txBody>
          <a:bodyPr>
            <a:normAutofit fontScale="90000"/>
          </a:bodyPr>
          <a:lstStyle/>
          <a:p>
            <a:r>
              <a:rPr lang="es-ES" b="1" dirty="0"/>
              <a:t>Caso: "Manufacturas </a:t>
            </a:r>
            <a:r>
              <a:rPr lang="es-ES" b="1" dirty="0" err="1"/>
              <a:t>Apex</a:t>
            </a:r>
            <a:r>
              <a:rPr lang="es-ES" b="1" dirty="0"/>
              <a:t> y el Salto a la Nube"</a:t>
            </a:r>
            <a:endParaRPr lang="es-ES" dirty="0"/>
          </a:p>
        </p:txBody>
      </p:sp>
      <p:sp>
        <p:nvSpPr>
          <p:cNvPr id="3" name="Marcador de contenido 2">
            <a:extLst>
              <a:ext uri="{FF2B5EF4-FFF2-40B4-BE49-F238E27FC236}">
                <a16:creationId xmlns:a16="http://schemas.microsoft.com/office/drawing/2014/main" id="{1ED7D85C-607F-CEC5-7A91-88492B038594}"/>
              </a:ext>
            </a:extLst>
          </p:cNvPr>
          <p:cNvSpPr>
            <a:spLocks noGrp="1"/>
          </p:cNvSpPr>
          <p:nvPr>
            <p:ph idx="1"/>
          </p:nvPr>
        </p:nvSpPr>
        <p:spPr>
          <a:xfrm>
            <a:off x="374299" y="1796457"/>
            <a:ext cx="7321901" cy="4099518"/>
          </a:xfrm>
        </p:spPr>
        <p:txBody>
          <a:bodyPr>
            <a:normAutofit fontScale="92500" lnSpcReduction="20000"/>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Manufacturas </a:t>
            </a:r>
            <a:r>
              <a:rPr lang="es-ES" dirty="0" err="1">
                <a:latin typeface="Calibri" panose="020F0502020204030204" pitchFamily="34" charset="0"/>
                <a:ea typeface="Calibri" panose="020F0502020204030204" pitchFamily="34" charset="0"/>
                <a:cs typeface="Calibri" panose="020F0502020204030204" pitchFamily="34" charset="0"/>
              </a:rPr>
              <a:t>Apex</a:t>
            </a:r>
            <a:r>
              <a:rPr lang="es-ES" dirty="0">
                <a:latin typeface="Calibri" panose="020F0502020204030204" pitchFamily="34" charset="0"/>
                <a:ea typeface="Calibri" panose="020F0502020204030204" pitchFamily="34" charset="0"/>
                <a:cs typeface="Calibri" panose="020F0502020204030204" pitchFamily="34" charset="0"/>
              </a:rPr>
              <a:t> es una fábrica tradicional que lleva operando más de 20 años con servidores físicos (hardware) ubicados en un cuarto de sistemas dentro de sus propias oficinas. Actualmente, la empresa maneja tres sistemas internos completamente aislados: un programa antiguo de contabilidad, una base de datos local para la nómina y asistencia de recursos humanos, y un sistema de control de inventario que solo funciona en las computadoras de la bodega central.</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problema surge cuando la gerencia necesita tomar decisiones rápidas o requiere acceso remoto. Generar un informe directivo que cruce el costo de la nómina con el inventario despachado toma días de trabajo manual en Excel, y los directivos no pueden ver los datos si están de viaje. Por ello, la empresa ha decidido diseñar un proceso ETL que extraiga la información de estos tres servidores locales, la estandarice y la cargue en un almacén de datos centralizado en la nube, permitiendo que la información esté segura, unificada y disponible en tiempo real desde cualquier lugar del mundo.</a:t>
            </a:r>
          </a:p>
          <a:p>
            <a:pPr marL="36900" indent="0" algn="just">
              <a:buNone/>
            </a:pPr>
            <a:endParaRPr lang="es-ES" dirty="0">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icono del concepto de producción. fabricación. ilustración de línea delgada  de idea de sector industrial. fábrica. Ingeniería. dibujo de contorno  aislado vectorial 5191654 Vector en Vecteezy">
            <a:extLst>
              <a:ext uri="{FF2B5EF4-FFF2-40B4-BE49-F238E27FC236}">
                <a16:creationId xmlns:a16="http://schemas.microsoft.com/office/drawing/2014/main" id="{0813A447-D00F-4F98-6823-9CEBA50987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2424" y="2609850"/>
            <a:ext cx="3950051" cy="3950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600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28DBC-0A1A-D8A6-E8DA-D3CC6AD9324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35B4D9-0823-FD45-21E3-DECF3CA93646}"/>
              </a:ext>
            </a:extLst>
          </p:cNvPr>
          <p:cNvSpPr>
            <a:spLocks noGrp="1"/>
          </p:cNvSpPr>
          <p:nvPr>
            <p:ph type="title"/>
          </p:nvPr>
        </p:nvSpPr>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¿Qué son los procesos ETL?</a:t>
            </a:r>
          </a:p>
        </p:txBody>
      </p:sp>
      <p:sp>
        <p:nvSpPr>
          <p:cNvPr id="3" name="Marcador de contenido 2">
            <a:extLst>
              <a:ext uri="{FF2B5EF4-FFF2-40B4-BE49-F238E27FC236}">
                <a16:creationId xmlns:a16="http://schemas.microsoft.com/office/drawing/2014/main" id="{2C037C35-1D98-EA4F-6906-34DD64E2B1C3}"/>
              </a:ext>
            </a:extLst>
          </p:cNvPr>
          <p:cNvSpPr>
            <a:spLocks noGrp="1"/>
          </p:cNvSpPr>
          <p:nvPr>
            <p:ph idx="1"/>
          </p:nvPr>
        </p:nvSpPr>
        <p:spPr>
          <a:xfrm>
            <a:off x="374299" y="1796457"/>
            <a:ext cx="11522426" cy="2697459"/>
          </a:xfrm>
        </p:spPr>
        <p:txBody>
          <a:bodyPr>
            <a:normAutofit fontScale="85000" lnSpcReduction="20000"/>
          </a:bodyPr>
          <a:lstStyle/>
          <a:p>
            <a:pPr marL="36900" indent="0">
              <a:buNone/>
            </a:pPr>
            <a:r>
              <a:rPr lang="es-ES" dirty="0">
                <a:latin typeface="Calibri" panose="020F0502020204030204" pitchFamily="34" charset="0"/>
                <a:ea typeface="Calibri" panose="020F0502020204030204" pitchFamily="34" charset="0"/>
                <a:cs typeface="Calibri" panose="020F0502020204030204" pitchFamily="34" charset="0"/>
              </a:rPr>
              <a:t>Imaginemos que usted compró tres cosas diferentes: unos zapatos en China, un libro en España y un reloj en su ciudad.</a:t>
            </a:r>
          </a:p>
          <a:p>
            <a:pPr>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Extracción (</a:t>
            </a:r>
            <a:r>
              <a:rPr lang="es-ES" b="1" dirty="0" err="1">
                <a:latin typeface="Calibri" panose="020F0502020204030204" pitchFamily="34" charset="0"/>
                <a:ea typeface="Calibri" panose="020F0502020204030204" pitchFamily="34" charset="0"/>
                <a:cs typeface="Calibri" panose="020F0502020204030204" pitchFamily="34" charset="0"/>
              </a:rPr>
              <a:t>Extract</a:t>
            </a:r>
            <a:r>
              <a:rPr lang="es-ES" b="1" dirty="0">
                <a:latin typeface="Calibri" panose="020F0502020204030204" pitchFamily="34" charset="0"/>
                <a:ea typeface="Calibri" panose="020F0502020204030204" pitchFamily="34" charset="0"/>
                <a:cs typeface="Calibri" panose="020F0502020204030204" pitchFamily="34" charset="0"/>
              </a:rPr>
              <a:t> - La Recogida):</a:t>
            </a:r>
            <a:r>
              <a:rPr lang="es-ES" dirty="0">
                <a:latin typeface="Calibri" panose="020F0502020204030204" pitchFamily="34" charset="0"/>
                <a:ea typeface="Calibri" panose="020F0502020204030204" pitchFamily="34" charset="0"/>
                <a:cs typeface="Calibri" panose="020F0502020204030204" pitchFamily="34" charset="0"/>
              </a:rPr>
              <a:t> El servicio de mensajería va a estas tres fábricas distintas a recoger sus compras. En este punto, el mensajero no cambia nada; solo recolecta una bolsa de plástico de China, una caja de cartón de España y un sobre local.</a:t>
            </a:r>
          </a:p>
          <a:p>
            <a:pPr>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Transformación (</a:t>
            </a:r>
            <a:r>
              <a:rPr lang="es-ES" b="1" dirty="0" err="1">
                <a:latin typeface="Calibri" panose="020F0502020204030204" pitchFamily="34" charset="0"/>
                <a:ea typeface="Calibri" panose="020F0502020204030204" pitchFamily="34" charset="0"/>
                <a:cs typeface="Calibri" panose="020F0502020204030204" pitchFamily="34" charset="0"/>
              </a:rPr>
              <a:t>Transform</a:t>
            </a:r>
            <a:r>
              <a:rPr lang="es-ES" b="1" dirty="0">
                <a:latin typeface="Calibri" panose="020F0502020204030204" pitchFamily="34" charset="0"/>
                <a:ea typeface="Calibri" panose="020F0502020204030204" pitchFamily="34" charset="0"/>
                <a:cs typeface="Calibri" panose="020F0502020204030204" pitchFamily="34" charset="0"/>
              </a:rPr>
              <a:t> - El Centro de Clasificación):</a:t>
            </a:r>
            <a:r>
              <a:rPr lang="es-ES" dirty="0">
                <a:latin typeface="Calibri" panose="020F0502020204030204" pitchFamily="34" charset="0"/>
                <a:ea typeface="Calibri" panose="020F0502020204030204" pitchFamily="34" charset="0"/>
                <a:cs typeface="Calibri" panose="020F0502020204030204" pitchFamily="34" charset="0"/>
              </a:rPr>
              <a:t> Todos estos paquetes llegan a un centro logístico principal, y aquí ocurre la magia. El equipo abre los paquetes, revisa que los productos no vengan rotos (control de calidad), traduce todas las etiquetas de envío a un solo idioma (estandarización) y mete los tres artículos juntos en una sola caja corporativa, limpia y segura.</a:t>
            </a:r>
          </a:p>
          <a:p>
            <a:pPr>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Carga (Load - La Entrega Final):</a:t>
            </a:r>
            <a:r>
              <a:rPr lang="es-ES" dirty="0">
                <a:latin typeface="Calibri" panose="020F0502020204030204" pitchFamily="34" charset="0"/>
                <a:ea typeface="Calibri" panose="020F0502020204030204" pitchFamily="34" charset="0"/>
                <a:cs typeface="Calibri" panose="020F0502020204030204" pitchFamily="34" charset="0"/>
              </a:rPr>
              <a:t> Esa única caja, perfectamente sellada y con la etiqueta correcta, es transportada y entregada en la puerta de su casa, lista para que usted la abra y use sus productos inmediatamente.</a:t>
            </a:r>
          </a:p>
        </p:txBody>
      </p:sp>
      <p:pic>
        <p:nvPicPr>
          <p:cNvPr id="3076" name="Picture 4" descr="ETL: Extraer, Transformar y Cargar - Jarroba">
            <a:extLst>
              <a:ext uri="{FF2B5EF4-FFF2-40B4-BE49-F238E27FC236}">
                <a16:creationId xmlns:a16="http://schemas.microsoft.com/office/drawing/2014/main" id="{098F152B-50FC-674D-26CE-D7A4F57FE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5982" y="4493916"/>
            <a:ext cx="4914055" cy="2154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0841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60B3F-556A-D110-0738-C3A437921CD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B78E127-76B2-F007-D4AF-F4E90901431D}"/>
              </a:ext>
            </a:extLst>
          </p:cNvPr>
          <p:cNvSpPr>
            <a:spLocks noGrp="1"/>
          </p:cNvSpPr>
          <p:nvPr>
            <p:ph type="title"/>
          </p:nvPr>
        </p:nvSpPr>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¿Por qué se inventaron los procesos ETL?</a:t>
            </a:r>
          </a:p>
        </p:txBody>
      </p:sp>
      <p:sp>
        <p:nvSpPr>
          <p:cNvPr id="3" name="Marcador de contenido 2">
            <a:extLst>
              <a:ext uri="{FF2B5EF4-FFF2-40B4-BE49-F238E27FC236}">
                <a16:creationId xmlns:a16="http://schemas.microsoft.com/office/drawing/2014/main" id="{BA6B573E-54F2-5E47-745E-E52A97E5BAB4}"/>
              </a:ext>
            </a:extLst>
          </p:cNvPr>
          <p:cNvSpPr>
            <a:spLocks noGrp="1"/>
          </p:cNvSpPr>
          <p:nvPr>
            <p:ph idx="1"/>
          </p:nvPr>
        </p:nvSpPr>
        <p:spPr>
          <a:xfrm>
            <a:off x="374299" y="1796457"/>
            <a:ext cx="7321901" cy="4099518"/>
          </a:xfrm>
        </p:spPr>
        <p:txBody>
          <a:bodyPr>
            <a:normAutofit fontScale="92500" lnSpcReduction="20000"/>
          </a:bodyPr>
          <a:lstStyle/>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La informatización de los años 70 y 80: Cuando las grandes empresas comenzaron a usar computadoras, lo hicieron por partes. Compraron un sistema cerrado para el departamento de ventas, otro distinto para contabilidad y otro diferente para recursos humanos.</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La "Ceguera Gerencial": A principios de los años 90, los directivos se toparon con un muro. Si querían saber si un empleado de ventas era realmente rentable, tenían que revisar manualmente el sistema de ventas (cuánto vendió) y luego ir al de recursos humanos (cuánto cobró de comisión). Las máquinas no se hablaban entre sí.</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El nacimiento de la integración: Las empresas decidieron construir grandes "Bodegas Centrales de Datos" (Data </a:t>
            </a:r>
            <a:r>
              <a:rPr lang="es-ES" dirty="0" err="1">
                <a:latin typeface="Calibri" panose="020F0502020204030204" pitchFamily="34" charset="0"/>
                <a:ea typeface="Calibri" panose="020F0502020204030204" pitchFamily="34" charset="0"/>
                <a:cs typeface="Calibri" panose="020F0502020204030204" pitchFamily="34" charset="0"/>
              </a:rPr>
              <a:t>Warehouses</a:t>
            </a:r>
            <a:r>
              <a:rPr lang="es-ES" dirty="0">
                <a:latin typeface="Calibri" panose="020F0502020204030204" pitchFamily="34" charset="0"/>
                <a:ea typeface="Calibri" panose="020F0502020204030204" pitchFamily="34" charset="0"/>
                <a:cs typeface="Calibri" panose="020F0502020204030204" pitchFamily="34" charset="0"/>
              </a:rPr>
              <a:t>) para cruzar toda la información. Sin embargo, necesitaban un software traductor que pudiera ir a los sistemas antiguos, sacar los datos, traducirlos a un idioma común y guardarlos en la nueva bodega. Así es como nació formalmente la disciplina y la tecnología del ETL.</a:t>
            </a:r>
          </a:p>
        </p:txBody>
      </p:sp>
      <p:pic>
        <p:nvPicPr>
          <p:cNvPr id="4" name="Picture 2" descr="Etl - Iconos gratis de redes">
            <a:extLst>
              <a:ext uri="{FF2B5EF4-FFF2-40B4-BE49-F238E27FC236}">
                <a16:creationId xmlns:a16="http://schemas.microsoft.com/office/drawing/2014/main" id="{351C17ED-6FAC-C9CA-A832-6EAFA65E68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4324" y="2682387"/>
            <a:ext cx="4010025" cy="4010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15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E185F-7292-E3A9-34F6-BC5117B739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D0782F-DB77-8EAD-6EE1-5933F54F2A22}"/>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El Viaje de los datos</a:t>
            </a:r>
          </a:p>
        </p:txBody>
      </p:sp>
      <p:sp>
        <p:nvSpPr>
          <p:cNvPr id="3" name="Marcador de contenido 2">
            <a:extLst>
              <a:ext uri="{FF2B5EF4-FFF2-40B4-BE49-F238E27FC236}">
                <a16:creationId xmlns:a16="http://schemas.microsoft.com/office/drawing/2014/main" id="{CA291BDB-7A06-6987-F21B-2F6559C22D3E}"/>
              </a:ext>
            </a:extLst>
          </p:cNvPr>
          <p:cNvSpPr>
            <a:spLocks noGrp="1"/>
          </p:cNvSpPr>
          <p:nvPr>
            <p:ph idx="1"/>
          </p:nvPr>
        </p:nvSpPr>
        <p:spPr>
          <a:xfrm>
            <a:off x="267239" y="1508421"/>
            <a:ext cx="6919946" cy="4099518"/>
          </a:xfrm>
        </p:spPr>
        <p:txBody>
          <a:bodyPr>
            <a:normAutofit fontScale="85000" lnSpcReduction="20000"/>
          </a:bodyPr>
          <a:lstStyle/>
          <a:p>
            <a:pPr marL="494100" indent="-457200" algn="just">
              <a:buAutoNum type="arabicPeriod"/>
            </a:pPr>
            <a:r>
              <a:rPr lang="es-ES" dirty="0">
                <a:latin typeface="Calibri" panose="020F0502020204030204" pitchFamily="34" charset="0"/>
                <a:ea typeface="Calibri" panose="020F0502020204030204" pitchFamily="34" charset="0"/>
                <a:cs typeface="Calibri" panose="020F0502020204030204" pitchFamily="34" charset="0"/>
              </a:rPr>
              <a:t>Data </a:t>
            </a:r>
            <a:r>
              <a:rPr lang="es-ES" dirty="0" err="1">
                <a:latin typeface="Calibri" panose="020F0502020204030204" pitchFamily="34" charset="0"/>
                <a:ea typeface="Calibri" panose="020F0502020204030204" pitchFamily="34" charset="0"/>
                <a:cs typeface="Calibri" panose="020F0502020204030204" pitchFamily="34" charset="0"/>
              </a:rPr>
              <a:t>Sources</a:t>
            </a:r>
            <a:r>
              <a:rPr lang="es-ES" dirty="0">
                <a:latin typeface="Calibri" panose="020F0502020204030204" pitchFamily="34" charset="0"/>
                <a:ea typeface="Calibri" panose="020F0502020204030204" pitchFamily="34" charset="0"/>
                <a:cs typeface="Calibri" panose="020F0502020204030204" pitchFamily="34" charset="0"/>
              </a:rPr>
              <a:t>: Son todos los sistemas operativos donde nace la información: la página web, el viejo sistema de nóminas, el CRM o las cajas registradoras. Aquí, la información está dispersa y en múltiples formatos.</a:t>
            </a:r>
          </a:p>
          <a:p>
            <a:pPr marL="494100" indent="-457200" algn="just">
              <a:buAutoNum type="arabicPeriod"/>
            </a:pPr>
            <a:r>
              <a:rPr lang="es-ES" dirty="0">
                <a:latin typeface="Calibri" panose="020F0502020204030204" pitchFamily="34" charset="0"/>
                <a:ea typeface="Calibri" panose="020F0502020204030204" pitchFamily="34" charset="0"/>
                <a:cs typeface="Calibri" panose="020F0502020204030204" pitchFamily="34" charset="0"/>
              </a:rPr>
              <a:t>Data Lake: En esta etapa, volcamos absolutamente todos los datos crudos, tal cual llegan de las fuentes, sin importar si son tablas ordenadas o textos desestructurados.</a:t>
            </a:r>
          </a:p>
          <a:p>
            <a:pPr marL="494100" indent="-457200" algn="just">
              <a:buAutoNum type="arabicPeriod"/>
            </a:pPr>
            <a:r>
              <a:rPr lang="es-ES" dirty="0">
                <a:latin typeface="Calibri" panose="020F0502020204030204" pitchFamily="34" charset="0"/>
                <a:ea typeface="Calibri" panose="020F0502020204030204" pitchFamily="34" charset="0"/>
                <a:cs typeface="Calibri" panose="020F0502020204030204" pitchFamily="34" charset="0"/>
              </a:rPr>
              <a:t>Data </a:t>
            </a:r>
            <a:r>
              <a:rPr lang="es-ES" dirty="0" err="1">
                <a:latin typeface="Calibri" panose="020F0502020204030204" pitchFamily="34" charset="0"/>
                <a:ea typeface="Calibri" panose="020F0502020204030204" pitchFamily="34" charset="0"/>
                <a:cs typeface="Calibri" panose="020F0502020204030204" pitchFamily="34" charset="0"/>
              </a:rPr>
              <a:t>Warehouse</a:t>
            </a:r>
            <a:r>
              <a:rPr lang="es-ES" dirty="0">
                <a:latin typeface="Calibri" panose="020F0502020204030204" pitchFamily="34" charset="0"/>
                <a:ea typeface="Calibri" panose="020F0502020204030204" pitchFamily="34" charset="0"/>
                <a:cs typeface="Calibri" panose="020F0502020204030204" pitchFamily="34" charset="0"/>
              </a:rPr>
              <a:t>: A través de nuestro proceso ETL (Extracción, Transformación y Carga), tomamos los datos, los limpiamos, los estandarizamos y los organizamos en bases de datos relacionales. Aquí es donde reside la "Única Fuente de la Verdad" corporativa, auditable y segura.</a:t>
            </a:r>
          </a:p>
          <a:p>
            <a:pPr marL="494100" indent="-457200" algn="just">
              <a:buAutoNum type="arabicPeriod"/>
            </a:pPr>
            <a:r>
              <a:rPr lang="es-ES" dirty="0">
                <a:latin typeface="Calibri" panose="020F0502020204030204" pitchFamily="34" charset="0"/>
                <a:ea typeface="Calibri" panose="020F0502020204030204" pitchFamily="34" charset="0"/>
                <a:cs typeface="Calibri" panose="020F0502020204030204" pitchFamily="34" charset="0"/>
              </a:rPr>
              <a:t>Data </a:t>
            </a:r>
            <a:r>
              <a:rPr lang="es-ES" dirty="0" err="1">
                <a:latin typeface="Calibri" panose="020F0502020204030204" pitchFamily="34" charset="0"/>
                <a:ea typeface="Calibri" panose="020F0502020204030204" pitchFamily="34" charset="0"/>
                <a:cs typeface="Calibri" panose="020F0502020204030204" pitchFamily="34" charset="0"/>
              </a:rPr>
              <a:t>Marts</a:t>
            </a:r>
            <a:r>
              <a:rPr lang="es-ES" dirty="0">
                <a:latin typeface="Calibri" panose="020F0502020204030204" pitchFamily="34" charset="0"/>
                <a:ea typeface="Calibri" panose="020F0502020204030204" pitchFamily="34" charset="0"/>
                <a:cs typeface="Calibri" panose="020F0502020204030204" pitchFamily="34" charset="0"/>
              </a:rPr>
              <a:t>: Dado que el departamento de Marketing no necesita (ni debe) ver los costos operativos de Recursos Humanos, se crea un "Data </a:t>
            </a:r>
            <a:r>
              <a:rPr lang="es-ES" dirty="0" err="1">
                <a:latin typeface="Calibri" panose="020F0502020204030204" pitchFamily="34" charset="0"/>
                <a:ea typeface="Calibri" panose="020F0502020204030204" pitchFamily="34" charset="0"/>
                <a:cs typeface="Calibri" panose="020F0502020204030204" pitchFamily="34" charset="0"/>
              </a:rPr>
              <a:t>Mart</a:t>
            </a:r>
            <a:r>
              <a:rPr lang="es-ES" dirty="0">
                <a:latin typeface="Calibri" panose="020F0502020204030204" pitchFamily="34" charset="0"/>
                <a:ea typeface="Calibri" panose="020F0502020204030204" pitchFamily="34" charset="0"/>
                <a:cs typeface="Calibri" panose="020F0502020204030204" pitchFamily="34" charset="0"/>
              </a:rPr>
              <a:t>". Es una porción pequeña y especializada del Data </a:t>
            </a:r>
            <a:r>
              <a:rPr lang="es-ES" dirty="0" err="1">
                <a:latin typeface="Calibri" panose="020F0502020204030204" pitchFamily="34" charset="0"/>
                <a:ea typeface="Calibri" panose="020F0502020204030204" pitchFamily="34" charset="0"/>
                <a:cs typeface="Calibri" panose="020F0502020204030204" pitchFamily="34" charset="0"/>
              </a:rPr>
              <a:t>Warehouse</a:t>
            </a:r>
            <a:r>
              <a:rPr lang="es-ES" dirty="0">
                <a:latin typeface="Calibri" panose="020F0502020204030204" pitchFamily="34" charset="0"/>
                <a:ea typeface="Calibri" panose="020F0502020204030204" pitchFamily="34" charset="0"/>
                <a:cs typeface="Calibri" panose="020F0502020204030204" pitchFamily="34" charset="0"/>
              </a:rPr>
              <a:t>, filtrada y diseñada exclusivamente para responder rápido a las preguntas de un departamento en particular.</a:t>
            </a:r>
          </a:p>
        </p:txBody>
      </p:sp>
      <p:pic>
        <p:nvPicPr>
          <p:cNvPr id="4098" name="Picture 2" descr="Data Mart vs. Data Lake: Making the Best Choice | Airbyte">
            <a:extLst>
              <a:ext uri="{FF2B5EF4-FFF2-40B4-BE49-F238E27FC236}">
                <a16:creationId xmlns:a16="http://schemas.microsoft.com/office/drawing/2014/main" id="{BBF1ADD1-123F-5277-70B3-05FFF1E53E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2882" y="3703320"/>
            <a:ext cx="4658622" cy="2620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784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79922-AC46-66D6-4289-0B8E8633D2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19FD79-7F76-00C5-061A-0DE15F453DD7}"/>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Extracción</a:t>
            </a:r>
          </a:p>
        </p:txBody>
      </p:sp>
      <p:sp>
        <p:nvSpPr>
          <p:cNvPr id="3" name="Marcador de contenido 2">
            <a:extLst>
              <a:ext uri="{FF2B5EF4-FFF2-40B4-BE49-F238E27FC236}">
                <a16:creationId xmlns:a16="http://schemas.microsoft.com/office/drawing/2014/main" id="{3C923A8E-8238-9685-06A6-7F2695D73010}"/>
              </a:ext>
            </a:extLst>
          </p:cNvPr>
          <p:cNvSpPr>
            <a:spLocks noGrp="1"/>
          </p:cNvSpPr>
          <p:nvPr>
            <p:ph idx="1"/>
          </p:nvPr>
        </p:nvSpPr>
        <p:spPr>
          <a:xfrm>
            <a:off x="267239" y="1508421"/>
            <a:ext cx="6919946" cy="4099518"/>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reto aquí es recolectar la información sin bloquear la operación diaria del negocio.</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Al conectar el sistema a una base de datos en producción, se debe asegurar que los clientes puedan seguir comprando sin lentitud.</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Para no saturar la red, la estrategia más utilizada es la Extracción Incremental en lugar de descargar todo el historial diario, el sistema identifica y extrae únicamente los registros que son nuevos o que sufrieron modificaciones desde el día anterior.</a:t>
            </a:r>
          </a:p>
        </p:txBody>
      </p:sp>
      <p:pic>
        <p:nvPicPr>
          <p:cNvPr id="7" name="Imagen 6">
            <a:extLst>
              <a:ext uri="{FF2B5EF4-FFF2-40B4-BE49-F238E27FC236}">
                <a16:creationId xmlns:a16="http://schemas.microsoft.com/office/drawing/2014/main" id="{B3D1854A-12CD-7236-B969-C922540FE189}"/>
              </a:ext>
            </a:extLst>
          </p:cNvPr>
          <p:cNvPicPr>
            <a:picLocks noChangeAspect="1"/>
          </p:cNvPicPr>
          <p:nvPr/>
        </p:nvPicPr>
        <p:blipFill>
          <a:blip r:embed="rId2"/>
          <a:stretch>
            <a:fillRect/>
          </a:stretch>
        </p:blipFill>
        <p:spPr>
          <a:xfrm>
            <a:off x="8138505" y="3332048"/>
            <a:ext cx="3248478" cy="2553056"/>
          </a:xfrm>
          <a:prstGeom prst="rect">
            <a:avLst/>
          </a:prstGeom>
        </p:spPr>
      </p:pic>
    </p:spTree>
    <p:extLst>
      <p:ext uri="{BB962C8B-B14F-4D97-AF65-F5344CB8AC3E}">
        <p14:creationId xmlns:p14="http://schemas.microsoft.com/office/powerpoint/2010/main" val="4236572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6F33B-24E9-3656-56CB-C8E0072788A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E4EA12-F43B-B5AE-3A31-792E1CACDA1D}"/>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Transformación</a:t>
            </a:r>
          </a:p>
        </p:txBody>
      </p:sp>
      <p:sp>
        <p:nvSpPr>
          <p:cNvPr id="3" name="Marcador de contenido 2">
            <a:extLst>
              <a:ext uri="{FF2B5EF4-FFF2-40B4-BE49-F238E27FC236}">
                <a16:creationId xmlns:a16="http://schemas.microsoft.com/office/drawing/2014/main" id="{077A5063-A1C8-4A63-2094-C861D8D92D89}"/>
              </a:ext>
            </a:extLst>
          </p:cNvPr>
          <p:cNvSpPr>
            <a:spLocks noGrp="1"/>
          </p:cNvSpPr>
          <p:nvPr>
            <p:ph idx="1"/>
          </p:nvPr>
        </p:nvSpPr>
        <p:spPr>
          <a:xfrm>
            <a:off x="267239" y="1508421"/>
            <a:ext cx="7496018" cy="4099518"/>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Esta es la fase computacionalmente más pesada, donde los datos se procesan en la memoria del servidor para aplicar reglas estrictas.</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Limpieza y Estandarización: </a:t>
            </a:r>
            <a:r>
              <a:rPr lang="es-ES" dirty="0">
                <a:latin typeface="Calibri" panose="020F0502020204030204" pitchFamily="34" charset="0"/>
                <a:ea typeface="Calibri" panose="020F0502020204030204" pitchFamily="34" charset="0"/>
                <a:cs typeface="Calibri" panose="020F0502020204030204" pitchFamily="34" charset="0"/>
              </a:rPr>
              <a:t>Se unifican formatos (ej. fechas y monedas) y se toma la decisión de qué hacer con los datos vacíos o nulos (eliminarlos del reporte o rellenarlos con un valor por defecto).</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Enriquecimiento: </a:t>
            </a:r>
            <a:r>
              <a:rPr lang="es-ES" dirty="0">
                <a:latin typeface="Calibri" panose="020F0502020204030204" pitchFamily="34" charset="0"/>
                <a:ea typeface="Calibri" panose="020F0502020204030204" pitchFamily="34" charset="0"/>
                <a:cs typeface="Calibri" panose="020F0502020204030204" pitchFamily="34" charset="0"/>
              </a:rPr>
              <a:t>Se cruzan datos de múltiples fuentes (ej. unir la tabla de ventas con la de costos) para crear una visión completa antes de guardarlos.</a:t>
            </a:r>
          </a:p>
        </p:txBody>
      </p:sp>
      <p:pic>
        <p:nvPicPr>
          <p:cNvPr id="11" name="Imagen 10">
            <a:extLst>
              <a:ext uri="{FF2B5EF4-FFF2-40B4-BE49-F238E27FC236}">
                <a16:creationId xmlns:a16="http://schemas.microsoft.com/office/drawing/2014/main" id="{757CFF59-DC82-B720-F1E8-1907475979E8}"/>
              </a:ext>
            </a:extLst>
          </p:cNvPr>
          <p:cNvPicPr>
            <a:picLocks noChangeAspect="1"/>
          </p:cNvPicPr>
          <p:nvPr/>
        </p:nvPicPr>
        <p:blipFill>
          <a:blip r:embed="rId2"/>
          <a:stretch>
            <a:fillRect/>
          </a:stretch>
        </p:blipFill>
        <p:spPr>
          <a:xfrm>
            <a:off x="8720024" y="2404895"/>
            <a:ext cx="2405176" cy="3530406"/>
          </a:xfrm>
          <a:prstGeom prst="rect">
            <a:avLst/>
          </a:prstGeom>
        </p:spPr>
      </p:pic>
    </p:spTree>
    <p:extLst>
      <p:ext uri="{BB962C8B-B14F-4D97-AF65-F5344CB8AC3E}">
        <p14:creationId xmlns:p14="http://schemas.microsoft.com/office/powerpoint/2010/main" val="2520004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C93DC-148E-3EBC-88E6-8D1E75E4D6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EEFFEF-445D-DD5C-C055-DFAEAAAC6DBD}"/>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Carga</a:t>
            </a:r>
          </a:p>
        </p:txBody>
      </p:sp>
      <p:sp>
        <p:nvSpPr>
          <p:cNvPr id="3" name="Marcador de contenido 2">
            <a:extLst>
              <a:ext uri="{FF2B5EF4-FFF2-40B4-BE49-F238E27FC236}">
                <a16:creationId xmlns:a16="http://schemas.microsoft.com/office/drawing/2014/main" id="{4888C26E-BF79-A846-20FF-049792BBC7A1}"/>
              </a:ext>
            </a:extLst>
          </p:cNvPr>
          <p:cNvSpPr>
            <a:spLocks noGrp="1"/>
          </p:cNvSpPr>
          <p:nvPr>
            <p:ph idx="1"/>
          </p:nvPr>
        </p:nvSpPr>
        <p:spPr>
          <a:xfrm>
            <a:off x="267238" y="1508421"/>
            <a:ext cx="7532593" cy="4099518"/>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objetivo final es depositar los datos limpios en el almacén central garantizando que la información llegue íntegra. Para lograrlo, se definen dos aspectos clave:</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La Estrategia de Inyección: </a:t>
            </a:r>
            <a:r>
              <a:rPr lang="es-ES" dirty="0">
                <a:latin typeface="Calibri" panose="020F0502020204030204" pitchFamily="34" charset="0"/>
                <a:ea typeface="Calibri" panose="020F0502020204030204" pitchFamily="34" charset="0"/>
                <a:cs typeface="Calibri" panose="020F0502020204030204" pitchFamily="34" charset="0"/>
              </a:rPr>
              <a:t>Se prioriza la Carga Incremental (</a:t>
            </a:r>
            <a:r>
              <a:rPr lang="es-ES" dirty="0" err="1">
                <a:latin typeface="Calibri" panose="020F0502020204030204" pitchFamily="34" charset="0"/>
                <a:ea typeface="Calibri" panose="020F0502020204030204" pitchFamily="34" charset="0"/>
                <a:cs typeface="Calibri" panose="020F0502020204030204" pitchFamily="34" charset="0"/>
              </a:rPr>
              <a:t>Upsert</a:t>
            </a:r>
            <a:r>
              <a:rPr lang="es-ES" dirty="0">
                <a:latin typeface="Calibri" panose="020F0502020204030204" pitchFamily="34" charset="0"/>
                <a:ea typeface="Calibri" panose="020F0502020204030204" pitchFamily="34" charset="0"/>
                <a:cs typeface="Calibri" panose="020F0502020204030204" pitchFamily="34" charset="0"/>
              </a:rPr>
              <a:t>). El motor evalúa cada registro: si el dato ya existe, simplemente lo actualiza; si es nuevo, lo agrega.</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Integridad Transaccional: </a:t>
            </a:r>
            <a:r>
              <a:rPr lang="es-ES" dirty="0">
                <a:latin typeface="Calibri" panose="020F0502020204030204" pitchFamily="34" charset="0"/>
                <a:ea typeface="Calibri" panose="020F0502020204030204" pitchFamily="34" charset="0"/>
                <a:cs typeface="Calibri" panose="020F0502020204030204" pitchFamily="34" charset="0"/>
              </a:rPr>
              <a:t>Los datos nunca se cargan uno por uno, sino en bloques seguros. Si el sistema intenta cargar 10,000 ventas y ocurre un fallo de conexión en el registro 9,999, la operación se cancela y se deshace automáticamente. Esto garantiza que jamás se tomen decisiones basadas en bases de datos rotas o incompletas a la mitad.</a:t>
            </a:r>
          </a:p>
        </p:txBody>
      </p:sp>
      <p:pic>
        <p:nvPicPr>
          <p:cNvPr id="5" name="Imagen 4">
            <a:extLst>
              <a:ext uri="{FF2B5EF4-FFF2-40B4-BE49-F238E27FC236}">
                <a16:creationId xmlns:a16="http://schemas.microsoft.com/office/drawing/2014/main" id="{A6628704-05F9-D39B-18B5-365B7101C3CC}"/>
              </a:ext>
            </a:extLst>
          </p:cNvPr>
          <p:cNvPicPr>
            <a:picLocks noChangeAspect="1"/>
          </p:cNvPicPr>
          <p:nvPr/>
        </p:nvPicPr>
        <p:blipFill>
          <a:blip r:embed="rId2"/>
          <a:stretch>
            <a:fillRect/>
          </a:stretch>
        </p:blipFill>
        <p:spPr>
          <a:xfrm>
            <a:off x="8505688" y="2728745"/>
            <a:ext cx="3019562" cy="3679175"/>
          </a:xfrm>
          <a:prstGeom prst="rect">
            <a:avLst/>
          </a:prstGeom>
        </p:spPr>
      </p:pic>
    </p:spTree>
    <p:extLst>
      <p:ext uri="{BB962C8B-B14F-4D97-AF65-F5344CB8AC3E}">
        <p14:creationId xmlns:p14="http://schemas.microsoft.com/office/powerpoint/2010/main" val="1018827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33C10-66A4-EF0C-53BC-F27F8A3BF1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258789-F889-12B8-7C4C-8674EF466B63}"/>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Riesgos</a:t>
            </a:r>
          </a:p>
        </p:txBody>
      </p:sp>
      <p:sp>
        <p:nvSpPr>
          <p:cNvPr id="3" name="Marcador de contenido 2">
            <a:extLst>
              <a:ext uri="{FF2B5EF4-FFF2-40B4-BE49-F238E27FC236}">
                <a16:creationId xmlns:a16="http://schemas.microsoft.com/office/drawing/2014/main" id="{8F3F3072-3D62-064E-8315-D3205196AEBF}"/>
              </a:ext>
            </a:extLst>
          </p:cNvPr>
          <p:cNvSpPr>
            <a:spLocks noGrp="1"/>
          </p:cNvSpPr>
          <p:nvPr>
            <p:ph idx="1"/>
          </p:nvPr>
        </p:nvSpPr>
        <p:spPr>
          <a:xfrm>
            <a:off x="267239" y="1508421"/>
            <a:ext cx="6993098" cy="4099518"/>
          </a:xfrm>
        </p:spPr>
        <p:txBody>
          <a:bodyPr>
            <a:normAutofit fontScale="85000" lnSpcReduction="10000"/>
          </a:body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Corrupción de Datos: </a:t>
            </a:r>
            <a:r>
              <a:rPr lang="es-ES" dirty="0">
                <a:latin typeface="Calibri" panose="020F0502020204030204" pitchFamily="34" charset="0"/>
                <a:ea typeface="Calibri" panose="020F0502020204030204" pitchFamily="34" charset="0"/>
                <a:cs typeface="Calibri" panose="020F0502020204030204" pitchFamily="34" charset="0"/>
              </a:rPr>
              <a:t>Inyectar información inconsistente, nula o duplicada que destruye de inmediato la confiabilidad de los reportes gerenciales.</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Pérdida de Información: </a:t>
            </a:r>
            <a:r>
              <a:rPr lang="es-ES" dirty="0">
                <a:latin typeface="Calibri" panose="020F0502020204030204" pitchFamily="34" charset="0"/>
                <a:ea typeface="Calibri" panose="020F0502020204030204" pitchFamily="34" charset="0"/>
                <a:cs typeface="Calibri" panose="020F0502020204030204" pitchFamily="34" charset="0"/>
              </a:rPr>
              <a:t>Omitir, filtrar incorrectamente o borrar de forma accidental registros clave debido a reglas de transformación mal diseñadas.</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Sobrecarga del Sistema (Cuellos de Botella): </a:t>
            </a:r>
            <a:r>
              <a:rPr lang="es-ES" dirty="0">
                <a:latin typeface="Calibri" panose="020F0502020204030204" pitchFamily="34" charset="0"/>
                <a:ea typeface="Calibri" panose="020F0502020204030204" pitchFamily="34" charset="0"/>
                <a:cs typeface="Calibri" panose="020F0502020204030204" pitchFamily="34" charset="0"/>
              </a:rPr>
              <a:t>Ejecutar extracciones masivas desde los sistemas de origen en horarios comerciales, paralizando la operación en vivo de la empresa.</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Retrasos en el Procesamiento (Latencia): </a:t>
            </a:r>
            <a:r>
              <a:rPr lang="es-ES" dirty="0">
                <a:latin typeface="Calibri" panose="020F0502020204030204" pitchFamily="34" charset="0"/>
                <a:ea typeface="Calibri" panose="020F0502020204030204" pitchFamily="34" charset="0"/>
                <a:cs typeface="Calibri" panose="020F0502020204030204" pitchFamily="34" charset="0"/>
              </a:rPr>
              <a:t>Tiempos de ejecución ineficientes que provocan que la información no esté lista ni actualizada para el inicio de la jornada laboral.</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Brechas de Privacidad: </a:t>
            </a:r>
            <a:r>
              <a:rPr lang="es-ES" dirty="0">
                <a:latin typeface="Calibri" panose="020F0502020204030204" pitchFamily="34" charset="0"/>
                <a:ea typeface="Calibri" panose="020F0502020204030204" pitchFamily="34" charset="0"/>
                <a:cs typeface="Calibri" panose="020F0502020204030204" pitchFamily="34" charset="0"/>
              </a:rPr>
              <a:t>Centralizar datos confidenciales o personales (como identificaciones o finanzas) sin aplicar políticas previas de </a:t>
            </a:r>
            <a:r>
              <a:rPr lang="es-ES" dirty="0" err="1">
                <a:latin typeface="Calibri" panose="020F0502020204030204" pitchFamily="34" charset="0"/>
                <a:ea typeface="Calibri" panose="020F0502020204030204" pitchFamily="34" charset="0"/>
                <a:cs typeface="Calibri" panose="020F0502020204030204" pitchFamily="34" charset="0"/>
              </a:rPr>
              <a:t>anonimización</a:t>
            </a:r>
            <a:r>
              <a:rPr lang="es-ES" dirty="0">
                <a:latin typeface="Calibri" panose="020F0502020204030204" pitchFamily="34" charset="0"/>
                <a:ea typeface="Calibri" panose="020F0502020204030204" pitchFamily="34" charset="0"/>
                <a:cs typeface="Calibri" panose="020F0502020204030204" pitchFamily="34" charset="0"/>
              </a:rPr>
              <a:t> o enmascaramiento.</a:t>
            </a:r>
          </a:p>
        </p:txBody>
      </p:sp>
      <p:pic>
        <p:nvPicPr>
          <p:cNvPr id="8194" name="Picture 2" descr="Peligro y Riesgo. Haz en 3 pasos una evaluación efectiva | Aicad">
            <a:extLst>
              <a:ext uri="{FF2B5EF4-FFF2-40B4-BE49-F238E27FC236}">
                <a16:creationId xmlns:a16="http://schemas.microsoft.com/office/drawing/2014/main" id="{7779731D-7943-EC44-A38E-88DA90F9DB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6685" y="3713809"/>
            <a:ext cx="4036240" cy="2354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9452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A4BAF-12D4-5310-434F-32F7D8DE11DD}"/>
            </a:ext>
          </a:extLst>
        </p:cNvPr>
        <p:cNvGrpSpPr/>
        <p:nvPr/>
      </p:nvGrpSpPr>
      <p:grpSpPr>
        <a:xfrm>
          <a:off x="0" y="0"/>
          <a:ext cx="0" cy="0"/>
          <a:chOff x="0" y="0"/>
          <a:chExt cx="0" cy="0"/>
        </a:xfrm>
      </p:grpSpPr>
      <p:pic>
        <p:nvPicPr>
          <p:cNvPr id="5" name="Picture 2" descr="Gradient data governance concept thin line icon, isolated vector  representing data democratization. 28337487 Vector Art at Vecteezy">
            <a:extLst>
              <a:ext uri="{FF2B5EF4-FFF2-40B4-BE49-F238E27FC236}">
                <a16:creationId xmlns:a16="http://schemas.microsoft.com/office/drawing/2014/main" id="{303A4335-004E-7365-93BE-597B866A9E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31" y="5196628"/>
            <a:ext cx="1612392" cy="161239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09D65543-E3BC-D5B6-5E30-6A8F7D6F5A53}"/>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Gobierno de datos</a:t>
            </a:r>
          </a:p>
        </p:txBody>
      </p:sp>
      <p:sp>
        <p:nvSpPr>
          <p:cNvPr id="3" name="Marcador de contenido 2">
            <a:extLst>
              <a:ext uri="{FF2B5EF4-FFF2-40B4-BE49-F238E27FC236}">
                <a16:creationId xmlns:a16="http://schemas.microsoft.com/office/drawing/2014/main" id="{9EBE1214-F7EC-E7FD-03BE-A922D90A92E3}"/>
              </a:ext>
            </a:extLst>
          </p:cNvPr>
          <p:cNvSpPr>
            <a:spLocks noGrp="1"/>
          </p:cNvSpPr>
          <p:nvPr>
            <p:ph idx="1"/>
          </p:nvPr>
        </p:nvSpPr>
        <p:spPr>
          <a:xfrm>
            <a:off x="267239" y="1197525"/>
            <a:ext cx="5420329" cy="4099518"/>
          </a:xfrm>
        </p:spPr>
        <p:txBody>
          <a:bodyPr>
            <a:normAutofit fontScale="85000" lnSpcReduction="20000"/>
          </a:body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Riesgo: Corrupción de Datos </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Pilar de Gobierno: Calidad de Datos (Data </a:t>
            </a:r>
            <a:r>
              <a:rPr lang="es-ES" b="1" dirty="0" err="1">
                <a:latin typeface="Calibri" panose="020F0502020204030204" pitchFamily="34" charset="0"/>
                <a:ea typeface="Calibri" panose="020F0502020204030204" pitchFamily="34" charset="0"/>
                <a:cs typeface="Calibri" panose="020F0502020204030204" pitchFamily="34" charset="0"/>
              </a:rPr>
              <a:t>Quality</a:t>
            </a:r>
            <a:r>
              <a:rPr lang="es-ES" b="1" dirty="0">
                <a:latin typeface="Calibri" panose="020F0502020204030204" pitchFamily="34" charset="0"/>
                <a:ea typeface="Calibri" panose="020F0502020204030204" pitchFamily="34" charset="0"/>
                <a:cs typeface="Calibri" panose="020F0502020204030204" pitchFamily="34" charset="0"/>
              </a:rPr>
              <a:t>)</a:t>
            </a:r>
          </a:p>
          <a:p>
            <a:pPr marL="414000" lvl="1" indent="0" algn="just">
              <a:buNone/>
            </a:pPr>
            <a:r>
              <a:rPr lang="es-ES" dirty="0">
                <a:latin typeface="Calibri" panose="020F0502020204030204" pitchFamily="34" charset="0"/>
                <a:ea typeface="Calibri" panose="020F0502020204030204" pitchFamily="34" charset="0"/>
                <a:cs typeface="Calibri" panose="020F0502020204030204" pitchFamily="34" charset="0"/>
              </a:rPr>
              <a:t>El Gobierno de Datos define las "reglas de negocio" formales (ej. Un cliente no puede tener una edad negativa o Todo producto debe tener categoría). El sistema ETL toma este manual de políticas y lo convierte en filtros matemáticos durante la fase de transformación, bloqueando cualquier registro que viole la norma antes de que contamine los reportes.</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Riesgo: Brechas de Privacidad </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Pilar de Gobierno: Clasificación y Seguridad </a:t>
            </a:r>
          </a:p>
          <a:p>
            <a:pPr marL="414000" lvl="1" indent="0" algn="just">
              <a:buNone/>
            </a:pPr>
            <a:r>
              <a:rPr lang="es-ES" dirty="0">
                <a:latin typeface="Calibri" panose="020F0502020204030204" pitchFamily="34" charset="0"/>
                <a:ea typeface="Calibri" panose="020F0502020204030204" pitchFamily="34" charset="0"/>
                <a:cs typeface="Calibri" panose="020F0502020204030204" pitchFamily="34" charset="0"/>
              </a:rPr>
              <a:t>El gobierno realiza un inventario y clasifica qué información es pública, interna o confidencial (PII - Personal </a:t>
            </a:r>
            <a:r>
              <a:rPr lang="es-ES" dirty="0" err="1">
                <a:latin typeface="Calibri" panose="020F0502020204030204" pitchFamily="34" charset="0"/>
                <a:ea typeface="Calibri" panose="020F0502020204030204" pitchFamily="34" charset="0"/>
                <a:cs typeface="Calibri" panose="020F0502020204030204" pitchFamily="34" charset="0"/>
              </a:rPr>
              <a:t>Identifiable</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err="1">
                <a:latin typeface="Calibri" panose="020F0502020204030204" pitchFamily="34" charset="0"/>
                <a:ea typeface="Calibri" panose="020F0502020204030204" pitchFamily="34" charset="0"/>
                <a:cs typeface="Calibri" panose="020F0502020204030204" pitchFamily="34" charset="0"/>
              </a:rPr>
              <a:t>Information</a:t>
            </a:r>
            <a:r>
              <a:rPr lang="es-ES" dirty="0">
                <a:latin typeface="Calibri" panose="020F0502020204030204" pitchFamily="34" charset="0"/>
                <a:ea typeface="Calibri" panose="020F0502020204030204" pitchFamily="34" charset="0"/>
                <a:cs typeface="Calibri" panose="020F0502020204030204" pitchFamily="34" charset="0"/>
              </a:rPr>
              <a:t>). Basado en este mandato legal, el diseño del sistema aplica técnicas de enmascaramiento de forma obligatoria durante la carga para proteger las identidades.</a:t>
            </a:r>
          </a:p>
        </p:txBody>
      </p:sp>
      <p:sp>
        <p:nvSpPr>
          <p:cNvPr id="4" name="Marcador de contenido 2">
            <a:extLst>
              <a:ext uri="{FF2B5EF4-FFF2-40B4-BE49-F238E27FC236}">
                <a16:creationId xmlns:a16="http://schemas.microsoft.com/office/drawing/2014/main" id="{58A18535-9E4E-AF93-C757-206F08A67693}"/>
              </a:ext>
            </a:extLst>
          </p:cNvPr>
          <p:cNvSpPr txBox="1">
            <a:spLocks/>
          </p:cNvSpPr>
          <p:nvPr/>
        </p:nvSpPr>
        <p:spPr>
          <a:xfrm>
            <a:off x="5852552" y="1197525"/>
            <a:ext cx="5420329" cy="4099518"/>
          </a:xfrm>
          <a:prstGeom prst="rect">
            <a:avLst/>
          </a:prstGeom>
          <a:effectLst>
            <a:outerShdw blurRad="25400" dir="17880000">
              <a:srgbClr val="000000">
                <a:alpha val="46000"/>
              </a:srgbClr>
            </a:outerShdw>
          </a:effectLst>
        </p:spPr>
        <p:txBody>
          <a:bodyPr vert="horz" lIns="91440" tIns="45720" rIns="91440" bIns="45720" rtlCol="0" anchor="t">
            <a:normAutofit fontScale="85000" lnSpcReduction="100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just">
              <a:buFont typeface="Wingdings 2" charset="2"/>
              <a:buNone/>
            </a:pPr>
            <a:r>
              <a:rPr lang="es-ES" b="1" dirty="0">
                <a:latin typeface="Calibri" panose="020F0502020204030204" pitchFamily="34" charset="0"/>
                <a:ea typeface="Calibri" panose="020F0502020204030204" pitchFamily="34" charset="0"/>
                <a:cs typeface="Calibri" panose="020F0502020204030204" pitchFamily="34" charset="0"/>
              </a:rPr>
              <a:t>Riesgo: Sobrecarga y Retrasos </a:t>
            </a:r>
          </a:p>
          <a:p>
            <a:pPr marL="36900" indent="0" algn="just">
              <a:buFont typeface="Wingdings 2" charset="2"/>
              <a:buNone/>
            </a:pPr>
            <a:r>
              <a:rPr lang="es-ES" b="1" dirty="0">
                <a:latin typeface="Calibri" panose="020F0502020204030204" pitchFamily="34" charset="0"/>
                <a:ea typeface="Calibri" panose="020F0502020204030204" pitchFamily="34" charset="0"/>
                <a:cs typeface="Calibri" panose="020F0502020204030204" pitchFamily="34" charset="0"/>
              </a:rPr>
              <a:t>Pilar de Gobierno: Acuerdos de Nivel de Servicio (</a:t>
            </a:r>
            <a:r>
              <a:rPr lang="es-ES" b="1" dirty="0" err="1">
                <a:latin typeface="Calibri" panose="020F0502020204030204" pitchFamily="34" charset="0"/>
                <a:ea typeface="Calibri" panose="020F0502020204030204" pitchFamily="34" charset="0"/>
                <a:cs typeface="Calibri" panose="020F0502020204030204" pitchFamily="34" charset="0"/>
              </a:rPr>
              <a:t>SLAs</a:t>
            </a:r>
            <a:r>
              <a:rPr lang="es-ES" b="1" dirty="0">
                <a:latin typeface="Calibri" panose="020F0502020204030204" pitchFamily="34" charset="0"/>
                <a:ea typeface="Calibri" panose="020F0502020204030204" pitchFamily="34" charset="0"/>
                <a:cs typeface="Calibri" panose="020F0502020204030204" pitchFamily="34" charset="0"/>
              </a:rPr>
              <a:t>)</a:t>
            </a:r>
          </a:p>
          <a:p>
            <a:pPr marL="414000" lvl="1" indent="0" algn="just">
              <a:buFont typeface="Wingdings 2" charset="2"/>
              <a:buNone/>
            </a:pPr>
            <a:r>
              <a:rPr lang="es-ES" dirty="0">
                <a:latin typeface="Calibri" panose="020F0502020204030204" pitchFamily="34" charset="0"/>
                <a:ea typeface="Calibri" panose="020F0502020204030204" pitchFamily="34" charset="0"/>
                <a:cs typeface="Calibri" panose="020F0502020204030204" pitchFamily="34" charset="0"/>
              </a:rPr>
              <a:t>Las políticas de gobierno dictaminan los horarios permitidos para extraer información sin afectar las ventas y definen a qué hora máxima deben estar listos los reportes para la junta directiva. El sistema se orquesta y automatiza para cumplir estrictamente con estos contratos de tiempo.</a:t>
            </a:r>
          </a:p>
          <a:p>
            <a:pPr marL="36900" indent="0" algn="just">
              <a:buFont typeface="Wingdings 2" charset="2"/>
              <a:buNone/>
            </a:pPr>
            <a:r>
              <a:rPr lang="es-ES" b="1" dirty="0">
                <a:latin typeface="Calibri" panose="020F0502020204030204" pitchFamily="34" charset="0"/>
                <a:ea typeface="Calibri" panose="020F0502020204030204" pitchFamily="34" charset="0"/>
                <a:cs typeface="Calibri" panose="020F0502020204030204" pitchFamily="34" charset="0"/>
              </a:rPr>
              <a:t>Riesgo: Pérdida de Información </a:t>
            </a:r>
          </a:p>
          <a:p>
            <a:pPr marL="36900" indent="0" algn="just">
              <a:buFont typeface="Wingdings 2" charset="2"/>
              <a:buNone/>
            </a:pPr>
            <a:r>
              <a:rPr lang="es-ES" b="1" dirty="0">
                <a:latin typeface="Calibri" panose="020F0502020204030204" pitchFamily="34" charset="0"/>
                <a:ea typeface="Calibri" panose="020F0502020204030204" pitchFamily="34" charset="0"/>
                <a:cs typeface="Calibri" panose="020F0502020204030204" pitchFamily="34" charset="0"/>
              </a:rPr>
              <a:t>Pilar de Gobierno: Linaje de Datos (Data </a:t>
            </a:r>
            <a:r>
              <a:rPr lang="es-ES" b="1" dirty="0" err="1">
                <a:latin typeface="Calibri" panose="020F0502020204030204" pitchFamily="34" charset="0"/>
                <a:ea typeface="Calibri" panose="020F0502020204030204" pitchFamily="34" charset="0"/>
                <a:cs typeface="Calibri" panose="020F0502020204030204" pitchFamily="34" charset="0"/>
              </a:rPr>
              <a:t>Lineage</a:t>
            </a:r>
            <a:r>
              <a:rPr lang="es-ES" b="1" dirty="0">
                <a:latin typeface="Calibri" panose="020F0502020204030204" pitchFamily="34" charset="0"/>
                <a:ea typeface="Calibri" panose="020F0502020204030204" pitchFamily="34" charset="0"/>
                <a:cs typeface="Calibri" panose="020F0502020204030204" pitchFamily="34" charset="0"/>
              </a:rPr>
              <a:t>)</a:t>
            </a:r>
          </a:p>
          <a:p>
            <a:pPr marL="414000" lvl="1" indent="0" algn="just">
              <a:buFont typeface="Wingdings 2" charset="2"/>
              <a:buNone/>
            </a:pPr>
            <a:r>
              <a:rPr lang="es-ES" dirty="0">
                <a:latin typeface="Calibri" panose="020F0502020204030204" pitchFamily="34" charset="0"/>
                <a:ea typeface="Calibri" panose="020F0502020204030204" pitchFamily="34" charset="0"/>
                <a:cs typeface="Calibri" panose="020F0502020204030204" pitchFamily="34" charset="0"/>
              </a:rPr>
              <a:t>El gobierno exige trazabilidad corporativa. Requiere documentar exactamente de dónde nació un dato, qué cálculo matemático lo alteró y en qué tablero terminó. Así, si alguna vez falta un bloque de ventas, existe un mapa auditable para encontrar el error en el flujo sin entrar en pánico.</a:t>
            </a:r>
          </a:p>
        </p:txBody>
      </p:sp>
      <p:cxnSp>
        <p:nvCxnSpPr>
          <p:cNvPr id="7" name="Conector recto 6">
            <a:extLst>
              <a:ext uri="{FF2B5EF4-FFF2-40B4-BE49-F238E27FC236}">
                <a16:creationId xmlns:a16="http://schemas.microsoft.com/office/drawing/2014/main" id="{D875798C-07DC-79D6-DEEF-7871F92966D5}"/>
              </a:ext>
            </a:extLst>
          </p:cNvPr>
          <p:cNvCxnSpPr/>
          <p:nvPr/>
        </p:nvCxnSpPr>
        <p:spPr>
          <a:xfrm>
            <a:off x="5760720" y="1197525"/>
            <a:ext cx="0" cy="3804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268" name="Picture 4" descr="37 mil resultados de imágenes, fotos de stock e ilustraciones libres de regalías para Data governance icons | Shutterstock">
            <a:extLst>
              <a:ext uri="{FF2B5EF4-FFF2-40B4-BE49-F238E27FC236}">
                <a16:creationId xmlns:a16="http://schemas.microsoft.com/office/drawing/2014/main" id="{6A8CEC45-D86B-5312-596F-D6330D4318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60489" y="5196628"/>
            <a:ext cx="1612392" cy="1612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3843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E7C9B-A879-AC26-B829-92D060D37BA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407BC6-341C-B8E5-F4E1-4022CD368E03}"/>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Modelado de Datos</a:t>
            </a:r>
          </a:p>
        </p:txBody>
      </p:sp>
      <p:sp>
        <p:nvSpPr>
          <p:cNvPr id="3" name="Marcador de contenido 2">
            <a:extLst>
              <a:ext uri="{FF2B5EF4-FFF2-40B4-BE49-F238E27FC236}">
                <a16:creationId xmlns:a16="http://schemas.microsoft.com/office/drawing/2014/main" id="{AEA0C1D1-00B5-8251-34A4-EDD97C581EE3}"/>
              </a:ext>
            </a:extLst>
          </p:cNvPr>
          <p:cNvSpPr>
            <a:spLocks noGrp="1"/>
          </p:cNvSpPr>
          <p:nvPr>
            <p:ph idx="1"/>
          </p:nvPr>
        </p:nvSpPr>
        <p:spPr>
          <a:xfrm>
            <a:off x="391064" y="1216575"/>
            <a:ext cx="7820248" cy="4412700"/>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modelado de datos es como diseñar el </a:t>
            </a:r>
            <a:r>
              <a:rPr lang="es-ES" b="1" dirty="0">
                <a:latin typeface="Calibri" panose="020F0502020204030204" pitchFamily="34" charset="0"/>
                <a:ea typeface="Calibri" panose="020F0502020204030204" pitchFamily="34" charset="0"/>
                <a:cs typeface="Calibri" panose="020F0502020204030204" pitchFamily="34" charset="0"/>
              </a:rPr>
              <a:t>plano arquitectónico </a:t>
            </a:r>
            <a:r>
              <a:rPr lang="es-ES" dirty="0">
                <a:latin typeface="Calibri" panose="020F0502020204030204" pitchFamily="34" charset="0"/>
                <a:ea typeface="Calibri" panose="020F0502020204030204" pitchFamily="34" charset="0"/>
                <a:cs typeface="Calibri" panose="020F0502020204030204" pitchFamily="34" charset="0"/>
              </a:rPr>
              <a:t>de un gran almacén corporativo antes de empezar a guardar cajas. En lugar de arrojar toda la información en un documento desordenado e interminable, este proceso </a:t>
            </a:r>
            <a:r>
              <a:rPr lang="es-ES" b="1" dirty="0">
                <a:latin typeface="Calibri" panose="020F0502020204030204" pitchFamily="34" charset="0"/>
                <a:ea typeface="Calibri" panose="020F0502020204030204" pitchFamily="34" charset="0"/>
                <a:cs typeface="Calibri" panose="020F0502020204030204" pitchFamily="34" charset="0"/>
              </a:rPr>
              <a:t>define</a:t>
            </a:r>
            <a:r>
              <a:rPr lang="es-ES" dirty="0">
                <a:latin typeface="Calibri" panose="020F0502020204030204" pitchFamily="34" charset="0"/>
                <a:ea typeface="Calibri" panose="020F0502020204030204" pitchFamily="34" charset="0"/>
                <a:cs typeface="Calibri" panose="020F0502020204030204" pitchFamily="34" charset="0"/>
              </a:rPr>
              <a:t> </a:t>
            </a:r>
            <a:r>
              <a:rPr lang="es-ES" b="1" dirty="0">
                <a:latin typeface="Calibri" panose="020F0502020204030204" pitchFamily="34" charset="0"/>
                <a:ea typeface="Calibri" panose="020F0502020204030204" pitchFamily="34" charset="0"/>
                <a:cs typeface="Calibri" panose="020F0502020204030204" pitchFamily="34" charset="0"/>
              </a:rPr>
              <a:t>estructuralmente</a:t>
            </a:r>
            <a:r>
              <a:rPr lang="es-ES" dirty="0">
                <a:latin typeface="Calibri" panose="020F0502020204030204" pitchFamily="34" charset="0"/>
                <a:ea typeface="Calibri" panose="020F0502020204030204" pitchFamily="34" charset="0"/>
                <a:cs typeface="Calibri" panose="020F0502020204030204" pitchFamily="34" charset="0"/>
              </a:rPr>
              <a:t> dónde, cómo y bajo qué reglas debe almacenarse cada registro. </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En la práctica, este diseño organiza la información separando sistemáticamente los eventos numéricos (como el monto exacto de una venta) de sus características descriptivas (quién es el cliente, en qué sucursal ocurrió y en qué fecha). Gracias a esta estructura inteligente, cuando un directivo necesita cruzar variables para tomar una decisión urgente, la base de datos no tiene que buscar a ciegas en un mar de archivos; sabe exactamente en qué "estante" mirar para entregar reportes analíticos en cuestión de milisegundos.</a:t>
            </a:r>
          </a:p>
        </p:txBody>
      </p:sp>
      <p:pic>
        <p:nvPicPr>
          <p:cNvPr id="12290" name="Picture 2" descr="Modelado de Datos: Definición, Usos y Tipos">
            <a:extLst>
              <a:ext uri="{FF2B5EF4-FFF2-40B4-BE49-F238E27FC236}">
                <a16:creationId xmlns:a16="http://schemas.microsoft.com/office/drawing/2014/main" id="{C5266C6C-2A7E-AA6B-B602-402E69BF7F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312" y="4532376"/>
            <a:ext cx="3810000"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1704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A9F61-6D65-BD01-5360-65CF7DDD46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11CBE0A-1B42-7AC6-9CA2-4ED0E9C47555}"/>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Modelado de Datos</a:t>
            </a:r>
          </a:p>
        </p:txBody>
      </p:sp>
      <p:sp>
        <p:nvSpPr>
          <p:cNvPr id="3" name="Marcador de contenido 2">
            <a:extLst>
              <a:ext uri="{FF2B5EF4-FFF2-40B4-BE49-F238E27FC236}">
                <a16:creationId xmlns:a16="http://schemas.microsoft.com/office/drawing/2014/main" id="{9662DE58-60BA-88FD-AFBE-9391FBA412A1}"/>
              </a:ext>
            </a:extLst>
          </p:cNvPr>
          <p:cNvSpPr>
            <a:spLocks noGrp="1"/>
          </p:cNvSpPr>
          <p:nvPr>
            <p:ph idx="1"/>
          </p:nvPr>
        </p:nvSpPr>
        <p:spPr>
          <a:xfrm>
            <a:off x="286289" y="1113536"/>
            <a:ext cx="7820248" cy="4412700"/>
          </a:xfrm>
        </p:spPr>
        <p:txBody>
          <a:bodyPr>
            <a:normAutofit fontScale="92500" lnSpcReduction="10000"/>
          </a:bodyPr>
          <a:lstStyle/>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Conceptual (El "Qué"): </a:t>
            </a:r>
            <a:r>
              <a:rPr lang="es-ES" dirty="0">
                <a:latin typeface="Calibri" panose="020F0502020204030204" pitchFamily="34" charset="0"/>
                <a:ea typeface="Calibri" panose="020F0502020204030204" pitchFamily="34" charset="0"/>
                <a:cs typeface="Calibri" panose="020F0502020204030204" pitchFamily="34" charset="0"/>
              </a:rPr>
              <a:t>Es el diseño orientado a la gerencia y al negocio. No contiene tecnología, ni código, ni tipos de datos. Solo identifica los bloques principales de información (Entidades) y cómo interactúan a un alto nivel. (Ejemplo: Un diagrama simple que muestra que un "Cliente" realiza una "Compra" de un "Producto").</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Lógico (El "Cómo"): </a:t>
            </a:r>
            <a:r>
              <a:rPr lang="es-ES" dirty="0">
                <a:latin typeface="Calibri" panose="020F0502020204030204" pitchFamily="34" charset="0"/>
                <a:ea typeface="Calibri" panose="020F0502020204030204" pitchFamily="34" charset="0"/>
                <a:cs typeface="Calibri" panose="020F0502020204030204" pitchFamily="34" charset="0"/>
              </a:rPr>
              <a:t>Es el plano arquitectónico detallado, pero independiente de la marca del software. Aquí los analistas de datos definen absolutamente todos los atributos (nombre, correo, ID, precio) y las reglas de relación (llaves primarias y foráneas). El negocio ya tiene forma, pero aún no se ha comprado el servidor.</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Físico (El "Dónde"): </a:t>
            </a:r>
            <a:r>
              <a:rPr lang="es-ES" dirty="0">
                <a:latin typeface="Calibri" panose="020F0502020204030204" pitchFamily="34" charset="0"/>
                <a:ea typeface="Calibri" panose="020F0502020204030204" pitchFamily="34" charset="0"/>
                <a:cs typeface="Calibri" panose="020F0502020204030204" pitchFamily="34" charset="0"/>
              </a:rPr>
              <a:t>Es la ejecución puramente técnica. Es el diseño lógico traducido al lenguaje exacto del motor de base de datos que la empresa compró (ej. PostgreSQL, </a:t>
            </a:r>
            <a:r>
              <a:rPr lang="es-ES" dirty="0" err="1">
                <a:latin typeface="Calibri" panose="020F0502020204030204" pitchFamily="34" charset="0"/>
                <a:ea typeface="Calibri" panose="020F0502020204030204" pitchFamily="34" charset="0"/>
                <a:cs typeface="Calibri" panose="020F0502020204030204" pitchFamily="34" charset="0"/>
              </a:rPr>
              <a:t>Snowflake</a:t>
            </a:r>
            <a:r>
              <a:rPr lang="es-ES" dirty="0">
                <a:latin typeface="Calibri" panose="020F0502020204030204" pitchFamily="34" charset="0"/>
                <a:ea typeface="Calibri" panose="020F0502020204030204" pitchFamily="34" charset="0"/>
                <a:cs typeface="Calibri" panose="020F0502020204030204" pitchFamily="34" charset="0"/>
              </a:rPr>
              <a:t>, Oracle). Aquí se definen detalles técnicos de rendimiento como particiones, índices y tipos de datos precisos (VARCHAR, INTEGER).</a:t>
            </a:r>
          </a:p>
        </p:txBody>
      </p:sp>
      <p:pic>
        <p:nvPicPr>
          <p:cNvPr id="13314" name="Picture 2" descr="Capítulo 4 Modelamiento de Datos | Base de Datos">
            <a:extLst>
              <a:ext uri="{FF2B5EF4-FFF2-40B4-BE49-F238E27FC236}">
                <a16:creationId xmlns:a16="http://schemas.microsoft.com/office/drawing/2014/main" id="{1F64540A-557E-4235-17A2-3B33040273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0549" y="3664405"/>
            <a:ext cx="3857625" cy="2755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328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3D066-0B08-2704-0DB5-9A220FB3C62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38F72A-C146-7218-003B-7060E66AE988}"/>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Modelado de Datos</a:t>
            </a:r>
          </a:p>
        </p:txBody>
      </p:sp>
      <p:sp>
        <p:nvSpPr>
          <p:cNvPr id="3" name="Marcador de contenido 2">
            <a:extLst>
              <a:ext uri="{FF2B5EF4-FFF2-40B4-BE49-F238E27FC236}">
                <a16:creationId xmlns:a16="http://schemas.microsoft.com/office/drawing/2014/main" id="{704CE665-A318-C527-82F2-94EE34088F35}"/>
              </a:ext>
            </a:extLst>
          </p:cNvPr>
          <p:cNvSpPr>
            <a:spLocks noGrp="1"/>
          </p:cNvSpPr>
          <p:nvPr>
            <p:ph idx="1"/>
          </p:nvPr>
        </p:nvSpPr>
        <p:spPr>
          <a:xfrm>
            <a:off x="286289" y="1113537"/>
            <a:ext cx="5438236" cy="2982002"/>
          </a:xfrm>
        </p:spPr>
        <p:txBody>
          <a:bodyPr>
            <a:normAutofit/>
          </a:body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Modelo Relacional (Orden y Precisión): </a:t>
            </a:r>
            <a:r>
              <a:rPr lang="es-ES" dirty="0">
                <a:latin typeface="Calibri" panose="020F0502020204030204" pitchFamily="34" charset="0"/>
                <a:ea typeface="Calibri" panose="020F0502020204030204" pitchFamily="34" charset="0"/>
                <a:cs typeface="Calibri" panose="020F0502020204030204" pitchFamily="34" charset="0"/>
              </a:rPr>
              <a:t>Es el sistema basado en tablas rígidas de filas y columnas interconectadas. Su prioridad es la integridad de los datos: nada se duplica y todo debe seguir reglas estrictas de formato. Es la arquitectura obligatoria para procesos contables, financieros y operativos donde el error no es una opción y la estructura es constante.</a:t>
            </a:r>
          </a:p>
        </p:txBody>
      </p:sp>
      <p:pic>
        <p:nvPicPr>
          <p:cNvPr id="14338" name="Picture 2" descr="Software de Productividad: Notion">
            <a:extLst>
              <a:ext uri="{FF2B5EF4-FFF2-40B4-BE49-F238E27FC236}">
                <a16:creationId xmlns:a16="http://schemas.microsoft.com/office/drawing/2014/main" id="{99756E09-1CF7-4E3E-CCED-1FC6A67A87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3803" y="4095538"/>
            <a:ext cx="5029621" cy="2514811"/>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contenido 2">
            <a:extLst>
              <a:ext uri="{FF2B5EF4-FFF2-40B4-BE49-F238E27FC236}">
                <a16:creationId xmlns:a16="http://schemas.microsoft.com/office/drawing/2014/main" id="{FDDA5948-25E7-AD6C-60BB-A2408752F7EE}"/>
              </a:ext>
            </a:extLst>
          </p:cNvPr>
          <p:cNvSpPr txBox="1">
            <a:spLocks/>
          </p:cNvSpPr>
          <p:nvPr/>
        </p:nvSpPr>
        <p:spPr>
          <a:xfrm>
            <a:off x="6191789" y="1113535"/>
            <a:ext cx="5438236" cy="2982003"/>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Modelo No Relacional (Flexibilidad y Escala): </a:t>
            </a:r>
            <a:r>
              <a:rPr lang="es-ES" dirty="0">
                <a:latin typeface="Calibri" panose="020F0502020204030204" pitchFamily="34" charset="0"/>
                <a:ea typeface="Calibri" panose="020F0502020204030204" pitchFamily="34" charset="0"/>
                <a:cs typeface="Calibri" panose="020F0502020204030204" pitchFamily="34" charset="0"/>
              </a:rPr>
              <a:t>Es un sistema de almacenamiento libre que no utiliza tablas fijas, sino formatos dinámicos (como documentos o carpetas). Su prioridad es la velocidad y la agilidad: permite guardar datos muy distintos entre sí sin previo aviso. Es la arquitectura ideal para Big Data, redes sociales y aplicaciones móviles que crecen masivamente y cambian constantemente.</a:t>
            </a:r>
          </a:p>
        </p:txBody>
      </p:sp>
    </p:spTree>
    <p:extLst>
      <p:ext uri="{BB962C8B-B14F-4D97-AF65-F5344CB8AC3E}">
        <p14:creationId xmlns:p14="http://schemas.microsoft.com/office/powerpoint/2010/main" val="3066799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D38EA-3C9F-371E-785F-CBC6E2AAD5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A4E953-ED4B-D64B-7AC3-AD1D192F4DDE}"/>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Modelado de Datos</a:t>
            </a:r>
          </a:p>
        </p:txBody>
      </p:sp>
      <p:sp>
        <p:nvSpPr>
          <p:cNvPr id="3" name="Marcador de contenido 2">
            <a:extLst>
              <a:ext uri="{FF2B5EF4-FFF2-40B4-BE49-F238E27FC236}">
                <a16:creationId xmlns:a16="http://schemas.microsoft.com/office/drawing/2014/main" id="{E8136CC0-C719-E66A-0371-03D8F53FC967}"/>
              </a:ext>
            </a:extLst>
          </p:cNvPr>
          <p:cNvSpPr>
            <a:spLocks noGrp="1"/>
          </p:cNvSpPr>
          <p:nvPr>
            <p:ph idx="1"/>
          </p:nvPr>
        </p:nvSpPr>
        <p:spPr>
          <a:xfrm>
            <a:off x="286289" y="1113537"/>
            <a:ext cx="5438236" cy="2982002"/>
          </a:xfrm>
        </p:spPr>
        <p:txBody>
          <a:bodyPr>
            <a:normAutofit/>
          </a:body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Modelado Relacional (SQL)</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Modelo Estrella (Dimensional): Una gran Tabla de Hechos en el centro rodeada de Tablas de Dimensiones planas. </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Modelo Copo de Nieve (Dimensional): Mantiene los hechos en el centro, pero ramifica las dimensiones (las divide) para ahorrar espacio en el servidor de la nube.</a:t>
            </a:r>
          </a:p>
        </p:txBody>
      </p:sp>
      <p:pic>
        <p:nvPicPr>
          <p:cNvPr id="14338" name="Picture 2" descr="Software de Productividad: Notion">
            <a:extLst>
              <a:ext uri="{FF2B5EF4-FFF2-40B4-BE49-F238E27FC236}">
                <a16:creationId xmlns:a16="http://schemas.microsoft.com/office/drawing/2014/main" id="{CEDFA1D6-49EB-A73A-761F-F34E133599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4045" y="4299013"/>
            <a:ext cx="4640960" cy="2320480"/>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contenido 2">
            <a:extLst>
              <a:ext uri="{FF2B5EF4-FFF2-40B4-BE49-F238E27FC236}">
                <a16:creationId xmlns:a16="http://schemas.microsoft.com/office/drawing/2014/main" id="{7A0429DE-38C7-14CD-0645-1C8D4E134330}"/>
              </a:ext>
            </a:extLst>
          </p:cNvPr>
          <p:cNvSpPr txBox="1">
            <a:spLocks/>
          </p:cNvSpPr>
          <p:nvPr/>
        </p:nvSpPr>
        <p:spPr>
          <a:xfrm>
            <a:off x="6096000" y="1113536"/>
            <a:ext cx="5438236" cy="2982003"/>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Modelado No Relacional (NoSQL)</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Documental: </a:t>
            </a:r>
            <a:r>
              <a:rPr lang="es-ES" dirty="0">
                <a:latin typeface="Calibri" panose="020F0502020204030204" pitchFamily="34" charset="0"/>
                <a:ea typeface="Calibri" panose="020F0502020204030204" pitchFamily="34" charset="0"/>
                <a:cs typeface="Calibri" panose="020F0502020204030204" pitchFamily="34" charset="0"/>
              </a:rPr>
              <a:t>Guarda la información en archivos parecidos a etiquetas (formato JSON), no en tablas. </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Clave-Valor: </a:t>
            </a:r>
            <a:r>
              <a:rPr lang="es-ES" dirty="0">
                <a:latin typeface="Calibri" panose="020F0502020204030204" pitchFamily="34" charset="0"/>
                <a:ea typeface="Calibri" panose="020F0502020204030204" pitchFamily="34" charset="0"/>
                <a:cs typeface="Calibri" panose="020F0502020204030204" pitchFamily="34" charset="0"/>
              </a:rPr>
              <a:t>Es como un diccionario </a:t>
            </a:r>
            <a:r>
              <a:rPr lang="es-ES" dirty="0" err="1">
                <a:latin typeface="Calibri" panose="020F0502020204030204" pitchFamily="34" charset="0"/>
                <a:ea typeface="Calibri" panose="020F0502020204030204" pitchFamily="34" charset="0"/>
                <a:cs typeface="Calibri" panose="020F0502020204030204" pitchFamily="34" charset="0"/>
              </a:rPr>
              <a:t>ultra-rápido</a:t>
            </a:r>
            <a:r>
              <a:rPr lang="es-ES" dirty="0">
                <a:latin typeface="Calibri" panose="020F0502020204030204" pitchFamily="34" charset="0"/>
                <a:ea typeface="Calibri" panose="020F0502020204030204" pitchFamily="34" charset="0"/>
                <a:cs typeface="Calibri" panose="020F0502020204030204" pitchFamily="34" charset="0"/>
              </a:rPr>
              <a:t> de dos columnas (una llave única y su contenido). </a:t>
            </a:r>
          </a:p>
        </p:txBody>
      </p:sp>
    </p:spTree>
    <p:extLst>
      <p:ext uri="{BB962C8B-B14F-4D97-AF65-F5344CB8AC3E}">
        <p14:creationId xmlns:p14="http://schemas.microsoft.com/office/powerpoint/2010/main" val="1897393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85968-08A9-EE03-5E7E-9CC77D4EC89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835B89-2845-F369-94A6-4A66033FE89A}"/>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CRM (</a:t>
            </a:r>
            <a:r>
              <a:rPr lang="es-ES" dirty="0" err="1">
                <a:latin typeface="Calibri" panose="020F0502020204030204" pitchFamily="34" charset="0"/>
                <a:ea typeface="Calibri" panose="020F0502020204030204" pitchFamily="34" charset="0"/>
                <a:cs typeface="Calibri" panose="020F0502020204030204" pitchFamily="34" charset="0"/>
              </a:rPr>
              <a:t>Customer</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err="1">
                <a:latin typeface="Calibri" panose="020F0502020204030204" pitchFamily="34" charset="0"/>
                <a:ea typeface="Calibri" panose="020F0502020204030204" pitchFamily="34" charset="0"/>
                <a:cs typeface="Calibri" panose="020F0502020204030204" pitchFamily="34" charset="0"/>
              </a:rPr>
              <a:t>Relationship</a:t>
            </a:r>
            <a:r>
              <a:rPr lang="es-ES" dirty="0">
                <a:latin typeface="Calibri" panose="020F0502020204030204" pitchFamily="34" charset="0"/>
                <a:ea typeface="Calibri" panose="020F0502020204030204" pitchFamily="34" charset="0"/>
                <a:cs typeface="Calibri" panose="020F0502020204030204" pitchFamily="34" charset="0"/>
              </a:rPr>
              <a:t> Management)</a:t>
            </a:r>
          </a:p>
        </p:txBody>
      </p:sp>
      <p:sp>
        <p:nvSpPr>
          <p:cNvPr id="3" name="Marcador de contenido 2">
            <a:extLst>
              <a:ext uri="{FF2B5EF4-FFF2-40B4-BE49-F238E27FC236}">
                <a16:creationId xmlns:a16="http://schemas.microsoft.com/office/drawing/2014/main" id="{0A16F778-3F2E-39C9-65BA-164F1B45F90E}"/>
              </a:ext>
            </a:extLst>
          </p:cNvPr>
          <p:cNvSpPr>
            <a:spLocks noGrp="1"/>
          </p:cNvSpPr>
          <p:nvPr>
            <p:ph idx="1"/>
          </p:nvPr>
        </p:nvSpPr>
        <p:spPr>
          <a:xfrm>
            <a:off x="248188" y="1656461"/>
            <a:ext cx="7559263" cy="3815079"/>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a:t>
            </a:r>
            <a:r>
              <a:rPr lang="es-ES" b="1" dirty="0">
                <a:latin typeface="Calibri" panose="020F0502020204030204" pitchFamily="34" charset="0"/>
                <a:ea typeface="Calibri" panose="020F0502020204030204" pitchFamily="34" charset="0"/>
                <a:cs typeface="Calibri" panose="020F0502020204030204" pitchFamily="34" charset="0"/>
              </a:rPr>
              <a:t>CRM</a:t>
            </a:r>
            <a:r>
              <a:rPr lang="es-ES" dirty="0">
                <a:latin typeface="Calibri" panose="020F0502020204030204" pitchFamily="34" charset="0"/>
                <a:ea typeface="Calibri" panose="020F0502020204030204" pitchFamily="34" charset="0"/>
                <a:cs typeface="Calibri" panose="020F0502020204030204" pitchFamily="34" charset="0"/>
              </a:rPr>
              <a:t> es la plataforma tecnológica y estratégica diseñada para centralizar, registrar y analizar absolutamente todas las interacciones que una empresa tiene con sus clientes actuales y potenciales.</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Su </a:t>
            </a:r>
            <a:r>
              <a:rPr lang="es-ES" b="1" dirty="0">
                <a:latin typeface="Calibri" panose="020F0502020204030204" pitchFamily="34" charset="0"/>
                <a:ea typeface="Calibri" panose="020F0502020204030204" pitchFamily="34" charset="0"/>
                <a:cs typeface="Calibri" panose="020F0502020204030204" pitchFamily="34" charset="0"/>
              </a:rPr>
              <a:t>objetivo</a:t>
            </a:r>
            <a:r>
              <a:rPr lang="es-ES" dirty="0">
                <a:latin typeface="Calibri" panose="020F0502020204030204" pitchFamily="34" charset="0"/>
                <a:ea typeface="Calibri" panose="020F0502020204030204" pitchFamily="34" charset="0"/>
                <a:cs typeface="Calibri" panose="020F0502020204030204" pitchFamily="34" charset="0"/>
              </a:rPr>
              <a:t> </a:t>
            </a:r>
            <a:r>
              <a:rPr lang="es-ES" b="1" dirty="0">
                <a:latin typeface="Calibri" panose="020F0502020204030204" pitchFamily="34" charset="0"/>
                <a:ea typeface="Calibri" panose="020F0502020204030204" pitchFamily="34" charset="0"/>
                <a:cs typeface="Calibri" panose="020F0502020204030204" pitchFamily="34" charset="0"/>
              </a:rPr>
              <a:t>central</a:t>
            </a:r>
            <a:r>
              <a:rPr lang="es-ES" dirty="0">
                <a:latin typeface="Calibri" panose="020F0502020204030204" pitchFamily="34" charset="0"/>
                <a:ea typeface="Calibri" panose="020F0502020204030204" pitchFamily="34" charset="0"/>
                <a:cs typeface="Calibri" panose="020F0502020204030204" pitchFamily="34" charset="0"/>
              </a:rPr>
              <a:t> es dominar el ciclo de vida del cliente: desde que es un prospecto captado por marketing, pasando por las negociaciones del equipo de ventas, hasta llegar a los tickets de quejas o dudas en el servicio de postventa. Es la memoria institucional de la empresa sobre quién compra y por qué compra.</a:t>
            </a:r>
          </a:p>
        </p:txBody>
      </p:sp>
      <p:pic>
        <p:nvPicPr>
          <p:cNvPr id="1026" name="Picture 2" descr="What Is CRM (Customer Relationship Management)? - Germius">
            <a:extLst>
              <a:ext uri="{FF2B5EF4-FFF2-40B4-BE49-F238E27FC236}">
                <a16:creationId xmlns:a16="http://schemas.microsoft.com/office/drawing/2014/main" id="{C3E55042-F84C-3F3E-6084-7D6C769043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4314" y="3295650"/>
            <a:ext cx="3765885" cy="272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462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21F62-913B-B347-862E-8708C64982B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32A1286-62A6-769F-E2DE-B698D8185AB1}"/>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CRM (</a:t>
            </a:r>
            <a:r>
              <a:rPr lang="es-ES" dirty="0" err="1">
                <a:latin typeface="Calibri" panose="020F0502020204030204" pitchFamily="34" charset="0"/>
                <a:ea typeface="Calibri" panose="020F0502020204030204" pitchFamily="34" charset="0"/>
                <a:cs typeface="Calibri" panose="020F0502020204030204" pitchFamily="34" charset="0"/>
              </a:rPr>
              <a:t>Customer</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err="1">
                <a:latin typeface="Calibri" panose="020F0502020204030204" pitchFamily="34" charset="0"/>
                <a:ea typeface="Calibri" panose="020F0502020204030204" pitchFamily="34" charset="0"/>
                <a:cs typeface="Calibri" panose="020F0502020204030204" pitchFamily="34" charset="0"/>
              </a:rPr>
              <a:t>Relationship</a:t>
            </a:r>
            <a:r>
              <a:rPr lang="es-ES" dirty="0">
                <a:latin typeface="Calibri" panose="020F0502020204030204" pitchFamily="34" charset="0"/>
                <a:ea typeface="Calibri" panose="020F0502020204030204" pitchFamily="34" charset="0"/>
                <a:cs typeface="Calibri" panose="020F0502020204030204" pitchFamily="34" charset="0"/>
              </a:rPr>
              <a:t> Management)</a:t>
            </a:r>
          </a:p>
        </p:txBody>
      </p:sp>
      <p:sp>
        <p:nvSpPr>
          <p:cNvPr id="3" name="Marcador de contenido 2">
            <a:extLst>
              <a:ext uri="{FF2B5EF4-FFF2-40B4-BE49-F238E27FC236}">
                <a16:creationId xmlns:a16="http://schemas.microsoft.com/office/drawing/2014/main" id="{82C8E4EA-DBCD-2F7F-3E61-649463647D54}"/>
              </a:ext>
            </a:extLst>
          </p:cNvPr>
          <p:cNvSpPr>
            <a:spLocks noGrp="1"/>
          </p:cNvSpPr>
          <p:nvPr>
            <p:ph idx="1"/>
          </p:nvPr>
        </p:nvSpPr>
        <p:spPr>
          <a:xfrm>
            <a:off x="95788" y="1656460"/>
            <a:ext cx="7559263" cy="3815079"/>
          </a:xfrm>
        </p:spPr>
        <p:txBody>
          <a:bodyPr>
            <a:normAutofit fontScale="77500" lnSpcReduction="20000"/>
          </a:bodyPr>
          <a:lstStyle/>
          <a:p>
            <a:pPr marL="494100" indent="-457200" algn="just">
              <a:buAutoNum type="arabicPeriod"/>
            </a:pPr>
            <a:r>
              <a:rPr lang="es-ES" b="1" dirty="0">
                <a:latin typeface="Calibri" panose="020F0502020204030204" pitchFamily="34" charset="0"/>
                <a:ea typeface="Calibri" panose="020F0502020204030204" pitchFamily="34" charset="0"/>
                <a:cs typeface="Calibri" panose="020F0502020204030204" pitchFamily="34" charset="0"/>
              </a:rPr>
              <a:t>Extracción y Transformación (Python): </a:t>
            </a:r>
            <a:r>
              <a:rPr lang="es-ES" dirty="0">
                <a:latin typeface="Calibri" panose="020F0502020204030204" pitchFamily="34" charset="0"/>
                <a:ea typeface="Calibri" panose="020F0502020204030204" pitchFamily="34" charset="0"/>
                <a:cs typeface="Calibri" panose="020F0502020204030204" pitchFamily="34" charset="0"/>
              </a:rPr>
              <a:t>El lenguaje central para el movimiento de datos. Mediante la librería </a:t>
            </a:r>
            <a:r>
              <a:rPr lang="es-ES" dirty="0" err="1">
                <a:latin typeface="Calibri" panose="020F0502020204030204" pitchFamily="34" charset="0"/>
                <a:ea typeface="Calibri" panose="020F0502020204030204" pitchFamily="34" charset="0"/>
                <a:cs typeface="Calibri" panose="020F0502020204030204" pitchFamily="34" charset="0"/>
              </a:rPr>
              <a:t>requests</a:t>
            </a:r>
            <a:r>
              <a:rPr lang="es-ES" dirty="0">
                <a:latin typeface="Calibri" panose="020F0502020204030204" pitchFamily="34" charset="0"/>
                <a:ea typeface="Calibri" panose="020F0502020204030204" pitchFamily="34" charset="0"/>
                <a:cs typeface="Calibri" panose="020F0502020204030204" pitchFamily="34" charset="0"/>
              </a:rPr>
              <a:t>, se conecta directamente a las </a:t>
            </a:r>
            <a:r>
              <a:rPr lang="es-ES" dirty="0" err="1">
                <a:latin typeface="Calibri" panose="020F0502020204030204" pitchFamily="34" charset="0"/>
                <a:ea typeface="Calibri" panose="020F0502020204030204" pitchFamily="34" charset="0"/>
                <a:cs typeface="Calibri" panose="020F0502020204030204" pitchFamily="34" charset="0"/>
              </a:rPr>
              <a:t>APIs</a:t>
            </a:r>
            <a:r>
              <a:rPr lang="es-ES" dirty="0">
                <a:latin typeface="Calibri" panose="020F0502020204030204" pitchFamily="34" charset="0"/>
                <a:ea typeface="Calibri" panose="020F0502020204030204" pitchFamily="34" charset="0"/>
                <a:cs typeface="Calibri" panose="020F0502020204030204" pitchFamily="34" charset="0"/>
              </a:rPr>
              <a:t> del CRM (o cualquier otro sistema) para extraer la información. Posteriormente, utiliza la librería pandas para limpiar, estructurar y procesar los registros en memoria antes de cargarlos.</a:t>
            </a:r>
          </a:p>
          <a:p>
            <a:pPr marL="494100" indent="-457200" algn="just">
              <a:buAutoNum type="arabicPeriod"/>
            </a:pPr>
            <a:r>
              <a:rPr lang="es-ES" b="1" dirty="0">
                <a:latin typeface="Calibri" panose="020F0502020204030204" pitchFamily="34" charset="0"/>
                <a:ea typeface="Calibri" panose="020F0502020204030204" pitchFamily="34" charset="0"/>
                <a:cs typeface="Calibri" panose="020F0502020204030204" pitchFamily="34" charset="0"/>
              </a:rPr>
              <a:t>Orquestación y Automatización (Apache </a:t>
            </a:r>
            <a:r>
              <a:rPr lang="es-ES" b="1" dirty="0" err="1">
                <a:latin typeface="Calibri" panose="020F0502020204030204" pitchFamily="34" charset="0"/>
                <a:ea typeface="Calibri" panose="020F0502020204030204" pitchFamily="34" charset="0"/>
                <a:cs typeface="Calibri" panose="020F0502020204030204" pitchFamily="34" charset="0"/>
              </a:rPr>
              <a:t>Airflow</a:t>
            </a:r>
            <a:r>
              <a:rPr lang="es-ES" b="1" dirty="0">
                <a:latin typeface="Calibri" panose="020F0502020204030204" pitchFamily="34" charset="0"/>
                <a:ea typeface="Calibri" panose="020F0502020204030204" pitchFamily="34" charset="0"/>
                <a:cs typeface="Calibri" panose="020F0502020204030204" pitchFamily="34" charset="0"/>
              </a:rPr>
              <a:t>): </a:t>
            </a:r>
            <a:r>
              <a:rPr lang="es-ES" dirty="0">
                <a:latin typeface="Calibri" panose="020F0502020204030204" pitchFamily="34" charset="0"/>
                <a:ea typeface="Calibri" panose="020F0502020204030204" pitchFamily="34" charset="0"/>
                <a:cs typeface="Calibri" panose="020F0502020204030204" pitchFamily="34" charset="0"/>
              </a:rPr>
              <a:t>Es la plataforma que gobierna y monitorea los flujos de datos. Se encarga de programar los horarios exactos de ejecución de los scripts (ej. actualización nocturna) y gestiona el orden de las tareas, dependencias y alertas en caso de que algún proceso falle.</a:t>
            </a:r>
          </a:p>
          <a:p>
            <a:pPr marL="494100" indent="-457200" algn="just">
              <a:buAutoNum type="arabicPeriod"/>
            </a:pPr>
            <a:r>
              <a:rPr lang="es-ES" b="1" dirty="0">
                <a:latin typeface="Calibri" panose="020F0502020204030204" pitchFamily="34" charset="0"/>
                <a:ea typeface="Calibri" panose="020F0502020204030204" pitchFamily="34" charset="0"/>
                <a:cs typeface="Calibri" panose="020F0502020204030204" pitchFamily="34" charset="0"/>
              </a:rPr>
              <a:t>Almacenamiento Analítico (PostgreSQL): </a:t>
            </a:r>
            <a:r>
              <a:rPr lang="es-ES" dirty="0">
                <a:latin typeface="Calibri" panose="020F0502020204030204" pitchFamily="34" charset="0"/>
                <a:ea typeface="Calibri" panose="020F0502020204030204" pitchFamily="34" charset="0"/>
                <a:cs typeface="Calibri" panose="020F0502020204030204" pitchFamily="34" charset="0"/>
              </a:rPr>
              <a:t>Actúa como el motor de base de datos relacional central. Recibe la información ya procesada y sirve como la infraestructura robusta donde se construyen y alojan las tablas de hechos y dimensiones que conforman el almacén de datos.</a:t>
            </a:r>
          </a:p>
          <a:p>
            <a:pPr marL="494100" indent="-457200" algn="just">
              <a:buAutoNum type="arabicPeriod"/>
            </a:pPr>
            <a:r>
              <a:rPr lang="es-ES" b="1" dirty="0">
                <a:latin typeface="Calibri" panose="020F0502020204030204" pitchFamily="34" charset="0"/>
                <a:ea typeface="Calibri" panose="020F0502020204030204" pitchFamily="34" charset="0"/>
                <a:cs typeface="Calibri" panose="020F0502020204030204" pitchFamily="34" charset="0"/>
              </a:rPr>
              <a:t>Visualización e Inteligencia de Negocios (</a:t>
            </a:r>
            <a:r>
              <a:rPr lang="es-ES" b="1" dirty="0" err="1">
                <a:latin typeface="Calibri" panose="020F0502020204030204" pitchFamily="34" charset="0"/>
                <a:ea typeface="Calibri" panose="020F0502020204030204" pitchFamily="34" charset="0"/>
                <a:cs typeface="Calibri" panose="020F0502020204030204" pitchFamily="34" charset="0"/>
              </a:rPr>
              <a:t>Metabase</a:t>
            </a:r>
            <a:r>
              <a:rPr lang="es-ES" b="1" dirty="0">
                <a:latin typeface="Calibri" panose="020F0502020204030204" pitchFamily="34" charset="0"/>
                <a:ea typeface="Calibri" panose="020F0502020204030204" pitchFamily="34" charset="0"/>
                <a:cs typeface="Calibri" panose="020F0502020204030204" pitchFamily="34" charset="0"/>
              </a:rPr>
              <a:t> / Apache </a:t>
            </a:r>
            <a:r>
              <a:rPr lang="es-ES" b="1" dirty="0" err="1">
                <a:latin typeface="Calibri" panose="020F0502020204030204" pitchFamily="34" charset="0"/>
                <a:ea typeface="Calibri" panose="020F0502020204030204" pitchFamily="34" charset="0"/>
                <a:cs typeface="Calibri" panose="020F0502020204030204" pitchFamily="34" charset="0"/>
              </a:rPr>
              <a:t>Superset</a:t>
            </a:r>
            <a:r>
              <a:rPr lang="es-ES" b="1" dirty="0">
                <a:latin typeface="Calibri" panose="020F0502020204030204" pitchFamily="34" charset="0"/>
                <a:ea typeface="Calibri" panose="020F0502020204030204" pitchFamily="34" charset="0"/>
                <a:cs typeface="Calibri" panose="020F0502020204030204" pitchFamily="34" charset="0"/>
              </a:rPr>
              <a:t>): </a:t>
            </a:r>
            <a:r>
              <a:rPr lang="es-ES" dirty="0">
                <a:latin typeface="Calibri" panose="020F0502020204030204" pitchFamily="34" charset="0"/>
                <a:ea typeface="Calibri" panose="020F0502020204030204" pitchFamily="34" charset="0"/>
                <a:cs typeface="Calibri" panose="020F0502020204030204" pitchFamily="34" charset="0"/>
              </a:rPr>
              <a:t>Son las plataformas de BI que dan salida a la información. Se conectan directamente a PostgreSQL para que los usuarios de negocio puedan consultar los datos, crear tableros de control dinámicos y generar reportes vía web.</a:t>
            </a:r>
          </a:p>
        </p:txBody>
      </p:sp>
      <p:pic>
        <p:nvPicPr>
          <p:cNvPr id="5" name="Imagen 4">
            <a:extLst>
              <a:ext uri="{FF2B5EF4-FFF2-40B4-BE49-F238E27FC236}">
                <a16:creationId xmlns:a16="http://schemas.microsoft.com/office/drawing/2014/main" id="{579714AC-4675-10A8-019C-FD025E5E2209}"/>
              </a:ext>
            </a:extLst>
          </p:cNvPr>
          <p:cNvPicPr>
            <a:picLocks noChangeAspect="1"/>
          </p:cNvPicPr>
          <p:nvPr/>
        </p:nvPicPr>
        <p:blipFill>
          <a:blip r:embed="rId3"/>
          <a:stretch>
            <a:fillRect/>
          </a:stretch>
        </p:blipFill>
        <p:spPr>
          <a:xfrm>
            <a:off x="7807451" y="4256094"/>
            <a:ext cx="4219037" cy="2430891"/>
          </a:xfrm>
          <a:prstGeom prst="rect">
            <a:avLst/>
          </a:prstGeom>
        </p:spPr>
      </p:pic>
    </p:spTree>
    <p:extLst>
      <p:ext uri="{BB962C8B-B14F-4D97-AF65-F5344CB8AC3E}">
        <p14:creationId xmlns:p14="http://schemas.microsoft.com/office/powerpoint/2010/main" val="3454636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4EDCD-9A88-F956-EDD4-B71DE4302F1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9764A0-0FC1-991A-D9D1-768575B5DFB7}"/>
              </a:ext>
            </a:extLst>
          </p:cNvPr>
          <p:cNvSpPr>
            <a:spLocks noGrp="1"/>
          </p:cNvSpPr>
          <p:nvPr>
            <p:ph type="ctrTitle"/>
          </p:nvPr>
        </p:nvSpPr>
        <p:spPr/>
        <p:txBody>
          <a:bodyPr/>
          <a:lstStyle/>
          <a:p>
            <a:r>
              <a:rPr lang="es-ES" dirty="0">
                <a:solidFill>
                  <a:schemeClr val="tx1"/>
                </a:solidFill>
                <a:latin typeface="Calibri" panose="020F0502020204030204" pitchFamily="34" charset="0"/>
                <a:ea typeface="Calibri" panose="020F0502020204030204" pitchFamily="34" charset="0"/>
                <a:cs typeface="Calibri" panose="020F0502020204030204" pitchFamily="34" charset="0"/>
              </a:rPr>
              <a:t>Semana 2</a:t>
            </a:r>
          </a:p>
        </p:txBody>
      </p:sp>
    </p:spTree>
    <p:extLst>
      <p:ext uri="{BB962C8B-B14F-4D97-AF65-F5344CB8AC3E}">
        <p14:creationId xmlns:p14="http://schemas.microsoft.com/office/powerpoint/2010/main" val="1725700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0C7A2-B43F-3614-139F-6CD1659A456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F61641B-AD6C-FD04-03CC-C8D4AEBCCF8E}"/>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Fuente de datos</a:t>
            </a:r>
          </a:p>
        </p:txBody>
      </p:sp>
      <p:sp>
        <p:nvSpPr>
          <p:cNvPr id="3" name="Marcador de contenido 2">
            <a:extLst>
              <a:ext uri="{FF2B5EF4-FFF2-40B4-BE49-F238E27FC236}">
                <a16:creationId xmlns:a16="http://schemas.microsoft.com/office/drawing/2014/main" id="{E079B836-8317-E815-3499-5DDCB8D757F7}"/>
              </a:ext>
            </a:extLst>
          </p:cNvPr>
          <p:cNvSpPr>
            <a:spLocks noGrp="1"/>
          </p:cNvSpPr>
          <p:nvPr>
            <p:ph idx="1"/>
          </p:nvPr>
        </p:nvSpPr>
        <p:spPr>
          <a:xfrm>
            <a:off x="228489" y="1521460"/>
            <a:ext cx="7559263" cy="3815079"/>
          </a:xfrm>
        </p:spPr>
        <p:txBody>
          <a:bodyPr>
            <a:normAutofit fontScale="92500"/>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punto de origen donde reside la información cruda antes de ser extraída e ingerida por un proceso ETL.</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Estructuradas: </a:t>
            </a:r>
            <a:r>
              <a:rPr lang="es-ES" dirty="0">
                <a:latin typeface="Calibri" panose="020F0502020204030204" pitchFamily="34" charset="0"/>
                <a:ea typeface="Calibri" panose="020F0502020204030204" pitchFamily="34" charset="0"/>
                <a:cs typeface="Calibri" panose="020F0502020204030204" pitchFamily="34" charset="0"/>
              </a:rPr>
              <a:t>Formato tabular rígido (Filas y Columnas).</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	Ejemplos: Bases de datos relacionales (SQL), archivos Excel.</a:t>
            </a:r>
          </a:p>
          <a:p>
            <a:pPr algn="just">
              <a:buFont typeface="Arial" panose="020B0604020202020204" pitchFamily="34" charset="0"/>
              <a:buChar char="•"/>
            </a:pPr>
            <a:r>
              <a:rPr lang="es-ES" b="1" dirty="0" err="1">
                <a:latin typeface="Calibri" panose="020F0502020204030204" pitchFamily="34" charset="0"/>
                <a:ea typeface="Calibri" panose="020F0502020204030204" pitchFamily="34" charset="0"/>
                <a:cs typeface="Calibri" panose="020F0502020204030204" pitchFamily="34" charset="0"/>
              </a:rPr>
              <a:t>Semi-estructuradas</a:t>
            </a:r>
            <a:r>
              <a:rPr lang="es-ES" b="1" dirty="0">
                <a:latin typeface="Calibri" panose="020F0502020204030204" pitchFamily="34" charset="0"/>
                <a:ea typeface="Calibri" panose="020F0502020204030204" pitchFamily="34" charset="0"/>
                <a:cs typeface="Calibri" panose="020F0502020204030204" pitchFamily="34" charset="0"/>
              </a:rPr>
              <a:t>: </a:t>
            </a:r>
            <a:r>
              <a:rPr lang="es-ES" dirty="0">
                <a:latin typeface="Calibri" panose="020F0502020204030204" pitchFamily="34" charset="0"/>
                <a:ea typeface="Calibri" panose="020F0502020204030204" pitchFamily="34" charset="0"/>
                <a:cs typeface="Calibri" panose="020F0502020204030204" pitchFamily="34" charset="0"/>
              </a:rPr>
              <a:t>Información organizada por etiquetas o llaves, sin esquemas rígidos.</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	Ejemplos: Archivos JSON, conexiones a </a:t>
            </a:r>
            <a:r>
              <a:rPr lang="es-ES" dirty="0" err="1">
                <a:latin typeface="Calibri" panose="020F0502020204030204" pitchFamily="34" charset="0"/>
                <a:ea typeface="Calibri" panose="020F0502020204030204" pitchFamily="34" charset="0"/>
                <a:cs typeface="Calibri" panose="020F0502020204030204" pitchFamily="34" charset="0"/>
              </a:rPr>
              <a:t>APIs</a:t>
            </a:r>
            <a:r>
              <a:rPr lang="es-ES" dirty="0">
                <a:latin typeface="Calibri" panose="020F0502020204030204" pitchFamily="34" charset="0"/>
                <a:ea typeface="Calibri" panose="020F0502020204030204" pitchFamily="34" charset="0"/>
                <a:cs typeface="Calibri" panose="020F0502020204030204" pitchFamily="34" charset="0"/>
              </a:rPr>
              <a:t>, XML.</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No Estructuradas:</a:t>
            </a:r>
            <a:r>
              <a:rPr lang="es-ES" dirty="0">
                <a:latin typeface="Calibri" panose="020F0502020204030204" pitchFamily="34" charset="0"/>
                <a:ea typeface="Calibri" panose="020F0502020204030204" pitchFamily="34" charset="0"/>
                <a:cs typeface="Calibri" panose="020F0502020204030204" pitchFamily="34" charset="0"/>
              </a:rPr>
              <a:t> Carecen de un formato predefinido. Representan el 80% de los datos en el mundo real.</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	Ejemplos: Páginas Web (HTML), correos electrónicos, </a:t>
            </a:r>
            <a:r>
              <a:rPr lang="es-ES" dirty="0" err="1">
                <a:latin typeface="Calibri" panose="020F0502020204030204" pitchFamily="34" charset="0"/>
                <a:ea typeface="Calibri" panose="020F0502020204030204" pitchFamily="34" charset="0"/>
                <a:cs typeface="Calibri" panose="020F0502020204030204" pitchFamily="34" charset="0"/>
              </a:rPr>
              <a:t>PDFs</a:t>
            </a:r>
            <a:r>
              <a:rPr lang="es-ES" dirty="0">
                <a:latin typeface="Calibri" panose="020F0502020204030204" pitchFamily="34" charset="0"/>
                <a:ea typeface="Calibri" panose="020F0502020204030204" pitchFamily="34" charset="0"/>
                <a:cs typeface="Calibri" panose="020F0502020204030204" pitchFamily="34" charset="0"/>
              </a:rPr>
              <a:t>, imágenes.</a:t>
            </a:r>
          </a:p>
        </p:txBody>
      </p:sp>
      <p:pic>
        <p:nvPicPr>
          <p:cNvPr id="1026" name="Picture 2" descr="Step 3 - Identificar las fuentes de datos. - Xavier Pérez Solé">
            <a:extLst>
              <a:ext uri="{FF2B5EF4-FFF2-40B4-BE49-F238E27FC236}">
                <a16:creationId xmlns:a16="http://schemas.microsoft.com/office/drawing/2014/main" id="{21EEBB8D-96B9-0597-33D2-A2332B5C72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3880" y="3429000"/>
            <a:ext cx="3360039" cy="3145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3855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F2295-A91E-4402-EF3E-DBE591CAD19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7B0FAE-9AB4-EEC1-613B-437B63BDB95D}"/>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Extracción de datos</a:t>
            </a:r>
          </a:p>
        </p:txBody>
      </p:sp>
      <p:sp>
        <p:nvSpPr>
          <p:cNvPr id="3" name="Marcador de contenido 2">
            <a:extLst>
              <a:ext uri="{FF2B5EF4-FFF2-40B4-BE49-F238E27FC236}">
                <a16:creationId xmlns:a16="http://schemas.microsoft.com/office/drawing/2014/main" id="{760EB9A3-FED3-AC17-8F43-EF1D0557373F}"/>
              </a:ext>
            </a:extLst>
          </p:cNvPr>
          <p:cNvSpPr>
            <a:spLocks noGrp="1"/>
          </p:cNvSpPr>
          <p:nvPr>
            <p:ph idx="1"/>
          </p:nvPr>
        </p:nvSpPr>
        <p:spPr>
          <a:xfrm>
            <a:off x="228489" y="1521460"/>
            <a:ext cx="7699359" cy="4614164"/>
          </a:xfrm>
        </p:spPr>
        <p:txBody>
          <a:bodyPr>
            <a:normAutofit fontScale="92500" lnSpcReduction="10000"/>
          </a:bodyPr>
          <a:lstStyle/>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Las "Puertas Oficiales”: </a:t>
            </a:r>
            <a:r>
              <a:rPr lang="es-ES" dirty="0">
                <a:latin typeface="Calibri" panose="020F0502020204030204" pitchFamily="34" charset="0"/>
                <a:ea typeface="Calibri" panose="020F0502020204030204" pitchFamily="34" charset="0"/>
                <a:cs typeface="Calibri" panose="020F0502020204030204" pitchFamily="34" charset="0"/>
              </a:rPr>
              <a:t>Para las bases de datos corporativas, el estándar es usar conexiones nativas mediante protocolos como ODBC o JDBC, lo que nos permite extraer tablas completas usando lenguaje SQL. Por otro lado, para interactuar con sistemas modernos y servicios en la nube, el método predilecto es la conexión a </a:t>
            </a:r>
            <a:r>
              <a:rPr lang="es-ES" dirty="0" err="1">
                <a:latin typeface="Calibri" panose="020F0502020204030204" pitchFamily="34" charset="0"/>
                <a:ea typeface="Calibri" panose="020F0502020204030204" pitchFamily="34" charset="0"/>
                <a:cs typeface="Calibri" panose="020F0502020204030204" pitchFamily="34" charset="0"/>
              </a:rPr>
              <a:t>APIs</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err="1">
                <a:latin typeface="Calibri" panose="020F0502020204030204" pitchFamily="34" charset="0"/>
                <a:ea typeface="Calibri" panose="020F0502020204030204" pitchFamily="34" charset="0"/>
                <a:cs typeface="Calibri" panose="020F0502020204030204" pitchFamily="34" charset="0"/>
              </a:rPr>
              <a:t>RESTful</a:t>
            </a:r>
            <a:r>
              <a:rPr lang="es-ES" dirty="0">
                <a:latin typeface="Calibri" panose="020F0502020204030204" pitchFamily="34" charset="0"/>
                <a:ea typeface="Calibri" panose="020F0502020204030204" pitchFamily="34" charset="0"/>
                <a:cs typeface="Calibri" panose="020F0502020204030204" pitchFamily="34" charset="0"/>
              </a:rPr>
              <a:t> o </a:t>
            </a:r>
            <a:r>
              <a:rPr lang="es-ES" dirty="0" err="1">
                <a:latin typeface="Calibri" panose="020F0502020204030204" pitchFamily="34" charset="0"/>
                <a:ea typeface="Calibri" panose="020F0502020204030204" pitchFamily="34" charset="0"/>
                <a:cs typeface="Calibri" panose="020F0502020204030204" pitchFamily="34" charset="0"/>
              </a:rPr>
              <a:t>Webhooks</a:t>
            </a:r>
            <a:r>
              <a:rPr lang="es-ES" dirty="0">
                <a:latin typeface="Calibri" panose="020F0502020204030204" pitchFamily="34" charset="0"/>
                <a:ea typeface="Calibri" panose="020F0502020204030204" pitchFamily="34" charset="0"/>
                <a:cs typeface="Calibri" panose="020F0502020204030204" pitchFamily="34" charset="0"/>
              </a:rPr>
              <a:t>, los cuales nos entregan paquetes de información perfectamente empaquetados en formatos como JSON.</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Transferencia de archivos: </a:t>
            </a:r>
            <a:r>
              <a:rPr lang="es-ES" dirty="0">
                <a:latin typeface="Calibri" panose="020F0502020204030204" pitchFamily="34" charset="0"/>
                <a:ea typeface="Calibri" panose="020F0502020204030204" pitchFamily="34" charset="0"/>
                <a:cs typeface="Calibri" panose="020F0502020204030204" pitchFamily="34" charset="0"/>
              </a:rPr>
              <a:t>En lugar de tener acceso a una base de datos o crear una API, se configura un sistema automático que toma un archivo (generalmente CSV, TXT o Excel) y lo depositan en una carpeta compartida en la nube (como Amazon S3, Google Drive, o un servidor FTP/SFTP) todos los días a la misma hora.</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El Web </a:t>
            </a:r>
            <a:r>
              <a:rPr lang="es-ES" b="1" dirty="0" err="1">
                <a:latin typeface="Calibri" panose="020F0502020204030204" pitchFamily="34" charset="0"/>
                <a:ea typeface="Calibri" panose="020F0502020204030204" pitchFamily="34" charset="0"/>
                <a:cs typeface="Calibri" panose="020F0502020204030204" pitchFamily="34" charset="0"/>
              </a:rPr>
              <a:t>Scraping</a:t>
            </a:r>
            <a:r>
              <a:rPr lang="es-ES" b="1" dirty="0">
                <a:latin typeface="Calibri" panose="020F0502020204030204" pitchFamily="34" charset="0"/>
                <a:ea typeface="Calibri" panose="020F0502020204030204" pitchFamily="34" charset="0"/>
                <a:cs typeface="Calibri" panose="020F0502020204030204" pitchFamily="34" charset="0"/>
              </a:rPr>
              <a:t>: </a:t>
            </a:r>
            <a:r>
              <a:rPr lang="es-ES" dirty="0">
                <a:latin typeface="Calibri" panose="020F0502020204030204" pitchFamily="34" charset="0"/>
                <a:ea typeface="Calibri" panose="020F0502020204030204" pitchFamily="34" charset="0"/>
                <a:cs typeface="Calibri" panose="020F0502020204030204" pitchFamily="34" charset="0"/>
              </a:rPr>
              <a:t>Cuando la información de alto valor para el negocio se encuentra alojada en fuentes no estructuradas, como sitios web comerciales, y no existen mecanismos oficiales de acceso, se recurre al Web </a:t>
            </a:r>
            <a:r>
              <a:rPr lang="es-ES" dirty="0" err="1">
                <a:latin typeface="Calibri" panose="020F0502020204030204" pitchFamily="34" charset="0"/>
                <a:ea typeface="Calibri" panose="020F0502020204030204" pitchFamily="34" charset="0"/>
                <a:cs typeface="Calibri" panose="020F0502020204030204" pitchFamily="34" charset="0"/>
              </a:rPr>
              <a:t>Scraping</a:t>
            </a:r>
            <a:r>
              <a:rPr lang="es-ES" dirty="0">
                <a:latin typeface="Calibri" panose="020F0502020204030204" pitchFamily="34" charset="0"/>
                <a:ea typeface="Calibri" panose="020F0502020204030204" pitchFamily="34" charset="0"/>
                <a:cs typeface="Calibri" panose="020F0502020204030204" pitchFamily="34" charset="0"/>
              </a:rPr>
              <a:t> como técnica de extracción de último recurso.</a:t>
            </a:r>
          </a:p>
        </p:txBody>
      </p:sp>
      <p:pic>
        <p:nvPicPr>
          <p:cNvPr id="3074" name="Picture 2" descr="15 mejores herramientas de extracción de datos en 2025 | Thunderbit">
            <a:extLst>
              <a:ext uri="{FF2B5EF4-FFF2-40B4-BE49-F238E27FC236}">
                <a16:creationId xmlns:a16="http://schemas.microsoft.com/office/drawing/2014/main" id="{96AA6428-588D-5365-229D-949AC7672A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5324" y="3291840"/>
            <a:ext cx="3410061" cy="3133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0786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29271-6C90-E136-9EA1-A87912EBC1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515564A-0F62-787A-635A-42C4B2F3FFE7}"/>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Puertas oficiales</a:t>
            </a:r>
          </a:p>
        </p:txBody>
      </p:sp>
      <p:sp>
        <p:nvSpPr>
          <p:cNvPr id="3" name="Marcador de contenido 2">
            <a:extLst>
              <a:ext uri="{FF2B5EF4-FFF2-40B4-BE49-F238E27FC236}">
                <a16:creationId xmlns:a16="http://schemas.microsoft.com/office/drawing/2014/main" id="{7B84FE64-0BAA-95E8-3552-A0B2F834FAF5}"/>
              </a:ext>
            </a:extLst>
          </p:cNvPr>
          <p:cNvSpPr>
            <a:spLocks noGrp="1"/>
          </p:cNvSpPr>
          <p:nvPr>
            <p:ph idx="1"/>
          </p:nvPr>
        </p:nvSpPr>
        <p:spPr>
          <a:xfrm>
            <a:off x="228489" y="1521460"/>
            <a:ext cx="7559263" cy="3815079"/>
          </a:xfrm>
        </p:spPr>
        <p:txBody>
          <a:bodyPr>
            <a:normAutofit fontScale="92500" lnSpcReduction="10000"/>
          </a:bodyPr>
          <a:lstStyle/>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Extracción mediante (SQL/ODBC): </a:t>
            </a:r>
            <a:r>
              <a:rPr lang="es-ES" dirty="0">
                <a:latin typeface="Calibri" panose="020F0502020204030204" pitchFamily="34" charset="0"/>
                <a:ea typeface="Calibri" panose="020F0502020204030204" pitchFamily="34" charset="0"/>
                <a:cs typeface="Calibri" panose="020F0502020204030204" pitchFamily="34" charset="0"/>
              </a:rPr>
              <a:t>se basa en el establecimiento de conexiones directas a motores relacionales mediante controladores especializados como ODBC o JDBC. Este método permite que el proceso ETL interactúe nativamente con sistemas críticos como ERPs o </a:t>
            </a:r>
            <a:r>
              <a:rPr lang="es-ES" dirty="0" err="1">
                <a:latin typeface="Calibri" panose="020F0502020204030204" pitchFamily="34" charset="0"/>
                <a:ea typeface="Calibri" panose="020F0502020204030204" pitchFamily="34" charset="0"/>
                <a:cs typeface="Calibri" panose="020F0502020204030204" pitchFamily="34" charset="0"/>
              </a:rPr>
              <a:t>CRMs</a:t>
            </a:r>
            <a:r>
              <a:rPr lang="es-ES" dirty="0">
                <a:latin typeface="Calibri" panose="020F0502020204030204" pitchFamily="34" charset="0"/>
                <a:ea typeface="Calibri" panose="020F0502020204030204" pitchFamily="34" charset="0"/>
                <a:cs typeface="Calibri" panose="020F0502020204030204" pitchFamily="34" charset="0"/>
              </a:rPr>
              <a:t>, ejecutando consultas en lenguaje SQL para extraer tablas masivas con esquemas de filas y columnas ya definidos. Extracción mediante </a:t>
            </a:r>
          </a:p>
          <a:p>
            <a:pPr algn="just">
              <a:buFont typeface="Arial" panose="020B0604020202020204" pitchFamily="34" charset="0"/>
              <a:buChar char="•"/>
            </a:pPr>
            <a:r>
              <a:rPr lang="es-ES" b="1" dirty="0" err="1">
                <a:latin typeface="Calibri" panose="020F0502020204030204" pitchFamily="34" charset="0"/>
                <a:ea typeface="Calibri" panose="020F0502020204030204" pitchFamily="34" charset="0"/>
                <a:cs typeface="Calibri" panose="020F0502020204030204" pitchFamily="34" charset="0"/>
              </a:rPr>
              <a:t>APIs</a:t>
            </a:r>
            <a:r>
              <a:rPr lang="es-ES" b="1" dirty="0">
                <a:latin typeface="Calibri" panose="020F0502020204030204" pitchFamily="34" charset="0"/>
                <a:ea typeface="Calibri" panose="020F0502020204030204" pitchFamily="34" charset="0"/>
                <a:cs typeface="Calibri" panose="020F0502020204030204" pitchFamily="34" charset="0"/>
              </a:rPr>
              <a:t> y Servicios Web (JSON): </a:t>
            </a:r>
            <a:r>
              <a:rPr lang="es-ES" dirty="0">
                <a:latin typeface="Calibri" panose="020F0502020204030204" pitchFamily="34" charset="0"/>
                <a:ea typeface="Calibri" panose="020F0502020204030204" pitchFamily="34" charset="0"/>
                <a:cs typeface="Calibri" panose="020F0502020204030204" pitchFamily="34" charset="0"/>
              </a:rPr>
              <a:t>En este escenario, el pipeline actúa como un cliente que realiza peticiones de red estandarizadas para obtener paquetes de información </a:t>
            </a:r>
            <a:r>
              <a:rPr lang="es-ES" dirty="0" err="1">
                <a:latin typeface="Calibri" panose="020F0502020204030204" pitchFamily="34" charset="0"/>
                <a:ea typeface="Calibri" panose="020F0502020204030204" pitchFamily="34" charset="0"/>
                <a:cs typeface="Calibri" panose="020F0502020204030204" pitchFamily="34" charset="0"/>
              </a:rPr>
              <a:t>semi-estructurada</a:t>
            </a:r>
            <a:r>
              <a:rPr lang="es-ES" dirty="0">
                <a:latin typeface="Calibri" panose="020F0502020204030204" pitchFamily="34" charset="0"/>
                <a:ea typeface="Calibri" panose="020F0502020204030204" pitchFamily="34" charset="0"/>
                <a:cs typeface="Calibri" panose="020F0502020204030204" pitchFamily="34" charset="0"/>
              </a:rPr>
              <a:t>, generalmente en formato JSON. Esta vía de extracción es la más utilizada para capturar datos dinámicos de proveedores externos de forma legal y segura, permitiendo que el flujo de datos sea constante y escalable sin necesidad de acceder a la infraestructura privada del servidor.</a:t>
            </a:r>
          </a:p>
        </p:txBody>
      </p:sp>
      <p:pic>
        <p:nvPicPr>
          <p:cNvPr id="2060" name="Picture 12" descr="MySQL ODBC Driver - MySQL MS Access Connection">
            <a:extLst>
              <a:ext uri="{FF2B5EF4-FFF2-40B4-BE49-F238E27FC236}">
                <a16:creationId xmlns:a16="http://schemas.microsoft.com/office/drawing/2014/main" id="{AAEDD3EE-2D72-C41E-3DE2-38223E1C1E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5456" y="3652838"/>
            <a:ext cx="2538412" cy="2538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322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BD4C4-A3A5-CC29-AA43-A3DA37053A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3F57B7A-FA45-4B64-5DED-8FA0122B65D9}"/>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Transferencia de archivos</a:t>
            </a:r>
          </a:p>
        </p:txBody>
      </p:sp>
      <p:sp>
        <p:nvSpPr>
          <p:cNvPr id="3" name="Marcador de contenido 2">
            <a:extLst>
              <a:ext uri="{FF2B5EF4-FFF2-40B4-BE49-F238E27FC236}">
                <a16:creationId xmlns:a16="http://schemas.microsoft.com/office/drawing/2014/main" id="{A08806C9-9412-5722-F955-699A7D5969DF}"/>
              </a:ext>
            </a:extLst>
          </p:cNvPr>
          <p:cNvSpPr>
            <a:spLocks noGrp="1"/>
          </p:cNvSpPr>
          <p:nvPr>
            <p:ph idx="1"/>
          </p:nvPr>
        </p:nvSpPr>
        <p:spPr>
          <a:xfrm>
            <a:off x="228489" y="1521461"/>
            <a:ext cx="7882239" cy="2218436"/>
          </a:xfrm>
        </p:spPr>
        <p:txBody>
          <a:bodyPr>
            <a:normAutofit lnSpcReduction="10000"/>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Este proceso consiste en la descarga automatizada de archivos de texto (CSV) o libros de cálculo (Excel) que son depositados por sistemas de terceros en directorios compartidos o servidores FTP. Es una técnica de extracción asíncrona ideal para escenarios donde no es posible una conexión en tiempo real, facilitando una ingesta sencilla que traslada la información directamente a la memoria del sistema para su posterior procesamiento.</a:t>
            </a:r>
          </a:p>
        </p:txBody>
      </p:sp>
      <p:pic>
        <p:nvPicPr>
          <p:cNvPr id="5122" name="Picture 2" descr="Herramientas online para transferir archivos de hasta 50GB – CEC">
            <a:extLst>
              <a:ext uri="{FF2B5EF4-FFF2-40B4-BE49-F238E27FC236}">
                <a16:creationId xmlns:a16="http://schemas.microsoft.com/office/drawing/2014/main" id="{F39E1914-3BC2-0ED3-FF57-9BBA981C28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0370" y="3739897"/>
            <a:ext cx="4262437" cy="2632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8877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9F7C1-E268-9AF4-846D-1FF72BED78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DA4AE7-0044-3326-BEFF-81B92E481238}"/>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Web </a:t>
            </a:r>
            <a:r>
              <a:rPr lang="es-ES" dirty="0" err="1">
                <a:latin typeface="Calibri" panose="020F0502020204030204" pitchFamily="34" charset="0"/>
                <a:ea typeface="Calibri" panose="020F0502020204030204" pitchFamily="34" charset="0"/>
                <a:cs typeface="Calibri" panose="020F0502020204030204" pitchFamily="34" charset="0"/>
              </a:rPr>
              <a:t>Scraping</a:t>
            </a:r>
            <a:endParaRPr lang="es-ES" dirty="0">
              <a:latin typeface="Calibri" panose="020F0502020204030204" pitchFamily="34" charset="0"/>
              <a:ea typeface="Calibri" panose="020F0502020204030204" pitchFamily="34" charset="0"/>
              <a:cs typeface="Calibri" panose="020F0502020204030204" pitchFamily="34" charset="0"/>
            </a:endParaRPr>
          </a:p>
        </p:txBody>
      </p:sp>
      <p:sp>
        <p:nvSpPr>
          <p:cNvPr id="3" name="Marcador de contenido 2">
            <a:extLst>
              <a:ext uri="{FF2B5EF4-FFF2-40B4-BE49-F238E27FC236}">
                <a16:creationId xmlns:a16="http://schemas.microsoft.com/office/drawing/2014/main" id="{E7805BFE-0F9A-5B18-AE25-5D589099D3FD}"/>
              </a:ext>
            </a:extLst>
          </p:cNvPr>
          <p:cNvSpPr>
            <a:spLocks noGrp="1"/>
          </p:cNvSpPr>
          <p:nvPr>
            <p:ph idx="1"/>
          </p:nvPr>
        </p:nvSpPr>
        <p:spPr>
          <a:xfrm>
            <a:off x="228489" y="1521460"/>
            <a:ext cx="11044392" cy="3815079"/>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a:t>
            </a:r>
            <a:r>
              <a:rPr lang="es-ES" b="1" dirty="0">
                <a:latin typeface="Calibri" panose="020F0502020204030204" pitchFamily="34" charset="0"/>
                <a:ea typeface="Calibri" panose="020F0502020204030204" pitchFamily="34" charset="0"/>
                <a:cs typeface="Calibri" panose="020F0502020204030204" pitchFamily="34" charset="0"/>
              </a:rPr>
              <a:t>Web </a:t>
            </a:r>
            <a:r>
              <a:rPr lang="es-ES" b="1" dirty="0" err="1">
                <a:latin typeface="Calibri" panose="020F0502020204030204" pitchFamily="34" charset="0"/>
                <a:ea typeface="Calibri" panose="020F0502020204030204" pitchFamily="34" charset="0"/>
                <a:cs typeface="Calibri" panose="020F0502020204030204" pitchFamily="34" charset="0"/>
              </a:rPr>
              <a:t>Scraping</a:t>
            </a:r>
            <a:r>
              <a:rPr lang="es-ES" b="1" dirty="0">
                <a:latin typeface="Calibri" panose="020F0502020204030204" pitchFamily="34" charset="0"/>
                <a:ea typeface="Calibri" panose="020F0502020204030204" pitchFamily="34" charset="0"/>
                <a:cs typeface="Calibri" panose="020F0502020204030204" pitchFamily="34" charset="0"/>
              </a:rPr>
              <a:t> </a:t>
            </a:r>
            <a:r>
              <a:rPr lang="es-ES" dirty="0">
                <a:latin typeface="Calibri" panose="020F0502020204030204" pitchFamily="34" charset="0"/>
                <a:ea typeface="Calibri" panose="020F0502020204030204" pitchFamily="34" charset="0"/>
                <a:cs typeface="Calibri" panose="020F0502020204030204" pitchFamily="34" charset="0"/>
              </a:rPr>
              <a:t>es una técnica de extracción automatizada diseñada para capturar datos directamente del código fuente de páginas web. </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Se utiliza como solución técnica cuando la información de interés, como los precios de la competencia o catálogos externos, no está disponible a través de conexiones estructuradas tradicionales como bases de datos o </a:t>
            </a:r>
            <a:r>
              <a:rPr lang="es-ES" dirty="0" err="1">
                <a:latin typeface="Calibri" panose="020F0502020204030204" pitchFamily="34" charset="0"/>
                <a:ea typeface="Calibri" panose="020F0502020204030204" pitchFamily="34" charset="0"/>
                <a:cs typeface="Calibri" panose="020F0502020204030204" pitchFamily="34" charset="0"/>
              </a:rPr>
              <a:t>APIs</a:t>
            </a:r>
            <a:r>
              <a:rPr lang="es-ES" dirty="0">
                <a:latin typeface="Calibri" panose="020F0502020204030204" pitchFamily="34" charset="0"/>
                <a:ea typeface="Calibri" panose="020F0502020204030204" pitchFamily="34" charset="0"/>
                <a:cs typeface="Calibri" panose="020F0502020204030204" pitchFamily="34" charset="0"/>
              </a:rPr>
              <a:t>.</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proceso se ejecuta mediante tres operaciones secuenciales: la petición de red (para descargar el documento desde el servidor), el análisis estructural (para navegar por las etiquetas del código) y la captura final de los valores crudos, dejándolos listos para la etapa de estandarización.</a:t>
            </a:r>
          </a:p>
        </p:txBody>
      </p:sp>
      <p:pic>
        <p:nvPicPr>
          <p:cNvPr id="2052" name="Picture 4" descr="Introducción al Web Scraping con Python Embebido - cómo extraer ofertas de  trabajo de Python | ES IDC">
            <a:extLst>
              <a:ext uri="{FF2B5EF4-FFF2-40B4-BE49-F238E27FC236}">
                <a16:creationId xmlns:a16="http://schemas.microsoft.com/office/drawing/2014/main" id="{DEDB1F81-4DBB-7C42-5BE2-CA03381BB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6656" y="4457858"/>
            <a:ext cx="4175759" cy="2082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272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D6573-20C1-B5D2-4108-4C585114A2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B99678F-C3D6-97A4-AC7F-1D4E5D2A3545}"/>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Gobierno y Ética</a:t>
            </a:r>
          </a:p>
        </p:txBody>
      </p:sp>
      <p:sp>
        <p:nvSpPr>
          <p:cNvPr id="3" name="Marcador de contenido 2">
            <a:extLst>
              <a:ext uri="{FF2B5EF4-FFF2-40B4-BE49-F238E27FC236}">
                <a16:creationId xmlns:a16="http://schemas.microsoft.com/office/drawing/2014/main" id="{BFD1EA82-9EE1-2DB3-4E44-0D8C613F7D1A}"/>
              </a:ext>
            </a:extLst>
          </p:cNvPr>
          <p:cNvSpPr>
            <a:spLocks noGrp="1"/>
          </p:cNvSpPr>
          <p:nvPr>
            <p:ph idx="1"/>
          </p:nvPr>
        </p:nvSpPr>
        <p:spPr>
          <a:xfrm>
            <a:off x="228489" y="1521460"/>
            <a:ext cx="7181961" cy="4298315"/>
          </a:xfrm>
        </p:spPr>
        <p:txBody>
          <a:bodyPr>
            <a:normAutofit fontScale="85000" lnSpcReduction="20000"/>
          </a:body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Ética y Responsabilidad Técnica: </a:t>
            </a:r>
            <a:r>
              <a:rPr lang="es-ES" dirty="0">
                <a:latin typeface="Calibri" panose="020F0502020204030204" pitchFamily="34" charset="0"/>
                <a:ea typeface="Calibri" panose="020F0502020204030204" pitchFamily="34" charset="0"/>
                <a:cs typeface="Calibri" panose="020F0502020204030204" pitchFamily="34" charset="0"/>
              </a:rPr>
              <a:t>La capacidad técnica de extraer datos no otorga un derecho ilimitado sobre ellos. Un proceso ETL ético debe respetar la infraestructura del sitio destino, evitando la saturación de sus servidores mediante peticiones masivas que puedan degradar el servicio. La transparencia es clave: el </a:t>
            </a:r>
            <a:r>
              <a:rPr lang="es-ES" dirty="0" err="1">
                <a:latin typeface="Calibri" panose="020F0502020204030204" pitchFamily="34" charset="0"/>
                <a:ea typeface="Calibri" panose="020F0502020204030204" pitchFamily="34" charset="0"/>
                <a:cs typeface="Calibri" panose="020F0502020204030204" pitchFamily="34" charset="0"/>
              </a:rPr>
              <a:t>bot</a:t>
            </a:r>
            <a:r>
              <a:rPr lang="es-ES" dirty="0">
                <a:latin typeface="Calibri" panose="020F0502020204030204" pitchFamily="34" charset="0"/>
                <a:ea typeface="Calibri" panose="020F0502020204030204" pitchFamily="34" charset="0"/>
                <a:cs typeface="Calibri" panose="020F0502020204030204" pitchFamily="34" charset="0"/>
              </a:rPr>
              <a:t> debe identificarse correctamente y operar con frecuencias de consulta controladas que simulen un comportamiento humano responsable.</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Gobernanza y el archivo Robots.txt: </a:t>
            </a:r>
            <a:r>
              <a:rPr lang="es-ES" dirty="0">
                <a:latin typeface="Calibri" panose="020F0502020204030204" pitchFamily="34" charset="0"/>
                <a:ea typeface="Calibri" panose="020F0502020204030204" pitchFamily="34" charset="0"/>
                <a:cs typeface="Calibri" panose="020F0502020204030204" pitchFamily="34" charset="0"/>
              </a:rPr>
              <a:t>El estándar de gobierno para el </a:t>
            </a:r>
            <a:r>
              <a:rPr lang="es-ES" dirty="0" err="1">
                <a:latin typeface="Calibri" panose="020F0502020204030204" pitchFamily="34" charset="0"/>
                <a:ea typeface="Calibri" panose="020F0502020204030204" pitchFamily="34" charset="0"/>
                <a:cs typeface="Calibri" panose="020F0502020204030204" pitchFamily="34" charset="0"/>
              </a:rPr>
              <a:t>scraping</a:t>
            </a:r>
            <a:r>
              <a:rPr lang="es-ES" dirty="0">
                <a:latin typeface="Calibri" panose="020F0502020204030204" pitchFamily="34" charset="0"/>
                <a:ea typeface="Calibri" panose="020F0502020204030204" pitchFamily="34" charset="0"/>
                <a:cs typeface="Calibri" panose="020F0502020204030204" pitchFamily="34" charset="0"/>
              </a:rPr>
              <a:t> es el archivo robots.txt, el cual define las reglas y restricciones de acceso para agentes automatizados. Respetar las directivas de "</a:t>
            </a:r>
            <a:r>
              <a:rPr lang="es-ES" dirty="0" err="1">
                <a:latin typeface="Calibri" panose="020F0502020204030204" pitchFamily="34" charset="0"/>
                <a:ea typeface="Calibri" panose="020F0502020204030204" pitchFamily="34" charset="0"/>
                <a:cs typeface="Calibri" panose="020F0502020204030204" pitchFamily="34" charset="0"/>
              </a:rPr>
              <a:t>Disallow</a:t>
            </a:r>
            <a:r>
              <a:rPr lang="es-ES" dirty="0">
                <a:latin typeface="Calibri" panose="020F0502020204030204" pitchFamily="34" charset="0"/>
                <a:ea typeface="Calibri" panose="020F0502020204030204" pitchFamily="34" charset="0"/>
                <a:cs typeface="Calibri" panose="020F0502020204030204" pitchFamily="34" charset="0"/>
              </a:rPr>
              <a:t>" es una obligación técnica y moral en el diseño de procesos de extracción; ignorar estas reglas vulnera las políticas de propiedad de la fuente y compromete la integridad del pipeline ante posibles bloqueos.</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Marco Legal y Privacidad: </a:t>
            </a:r>
            <a:r>
              <a:rPr lang="es-ES" dirty="0">
                <a:latin typeface="Calibri" panose="020F0502020204030204" pitchFamily="34" charset="0"/>
                <a:ea typeface="Calibri" panose="020F0502020204030204" pitchFamily="34" charset="0"/>
                <a:cs typeface="Calibri" panose="020F0502020204030204" pitchFamily="34" charset="0"/>
              </a:rPr>
              <a:t>El </a:t>
            </a:r>
            <a:r>
              <a:rPr lang="es-ES" dirty="0" err="1">
                <a:latin typeface="Calibri" panose="020F0502020204030204" pitchFamily="34" charset="0"/>
                <a:ea typeface="Calibri" panose="020F0502020204030204" pitchFamily="34" charset="0"/>
                <a:cs typeface="Calibri" panose="020F0502020204030204" pitchFamily="34" charset="0"/>
              </a:rPr>
              <a:t>scraping</a:t>
            </a:r>
            <a:r>
              <a:rPr lang="es-ES" dirty="0">
                <a:latin typeface="Calibri" panose="020F0502020204030204" pitchFamily="34" charset="0"/>
                <a:ea typeface="Calibri" panose="020F0502020204030204" pitchFamily="34" charset="0"/>
                <a:cs typeface="Calibri" panose="020F0502020204030204" pitchFamily="34" charset="0"/>
              </a:rPr>
              <a:t> debe limitarse estrictamente a datos públicos de mercado, como precios y catálogos. El cumplimiento normativo prohíbe la captura de datos de carácter personal o sensible sin consentimiento explícito, protegiendo la privacidad de los usuarios finales. Un diseño ETL robusto garantiza que la extracción cumple con las leyes de protección de datos vigentes para evitar sanciones legales y riesgos reputacionales a la organización.</a:t>
            </a:r>
          </a:p>
        </p:txBody>
      </p:sp>
      <p:pic>
        <p:nvPicPr>
          <p:cNvPr id="6146" name="Picture 2" descr="La ética de los datos, una pieza que cambiará la estrategia de marketing -  ACTIONS">
            <a:extLst>
              <a:ext uri="{FF2B5EF4-FFF2-40B4-BE49-F238E27FC236}">
                <a16:creationId xmlns:a16="http://schemas.microsoft.com/office/drawing/2014/main" id="{9DE7DAF6-8998-8384-C192-F2C574A68A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0949" y="3838576"/>
            <a:ext cx="4362561" cy="2569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6515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74A38-C898-BF79-3204-FBA718CFC8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6036356-C45B-618D-7AC2-99FC7FF3E5F5}"/>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Transformación</a:t>
            </a:r>
          </a:p>
        </p:txBody>
      </p:sp>
      <p:sp>
        <p:nvSpPr>
          <p:cNvPr id="3" name="Marcador de contenido 2">
            <a:extLst>
              <a:ext uri="{FF2B5EF4-FFF2-40B4-BE49-F238E27FC236}">
                <a16:creationId xmlns:a16="http://schemas.microsoft.com/office/drawing/2014/main" id="{7D414D6B-405C-1F9B-ED34-58ED7E548610}"/>
              </a:ext>
            </a:extLst>
          </p:cNvPr>
          <p:cNvSpPr>
            <a:spLocks noGrp="1"/>
          </p:cNvSpPr>
          <p:nvPr>
            <p:ph idx="1"/>
          </p:nvPr>
        </p:nvSpPr>
        <p:spPr>
          <a:xfrm>
            <a:off x="228489" y="1521461"/>
            <a:ext cx="7397607" cy="3900931"/>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Es la fase del proceso donde los datos extraídos en bruto (raw data) se procesan para ajustarse a los requisitos del sistema de destino. Su objetivo es convertir datos heterogéneos, sucios o inconsistentes en un conjunto de datos estructurado, veraz y de alta calidad. Es aquí donde se garantiza que la información sea útil para la toma de decisiones.</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La Transformación no ocurre al azar; se diseña basándose en un Diccionario de Datos o un documento de requisitos. Cada cambio que aplicamos en esta fase debe ser auditable y repetible, de modo que si mañana recibimos nuevos datos, la transformación se aplique automáticamente de la misma forma exacta.</a:t>
            </a:r>
          </a:p>
        </p:txBody>
      </p:sp>
      <p:pic>
        <p:nvPicPr>
          <p:cNvPr id="7170" name="Picture 2" descr="La transformación de datos en Inteligencia Artificial | Blog Xeridia">
            <a:extLst>
              <a:ext uri="{FF2B5EF4-FFF2-40B4-BE49-F238E27FC236}">
                <a16:creationId xmlns:a16="http://schemas.microsoft.com/office/drawing/2014/main" id="{5BD451CA-B6DE-705A-A8A9-64C573C5F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4694" y="3928852"/>
            <a:ext cx="4138817" cy="2757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64717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59193-6ADA-6E38-5546-6AC804EF7A3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2135E0-C244-89B9-AFE9-86E92911F4BD}"/>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Data </a:t>
            </a:r>
            <a:r>
              <a:rPr lang="es-ES" dirty="0" err="1">
                <a:latin typeface="Calibri" panose="020F0502020204030204" pitchFamily="34" charset="0"/>
                <a:ea typeface="Calibri" panose="020F0502020204030204" pitchFamily="34" charset="0"/>
                <a:cs typeface="Calibri" panose="020F0502020204030204" pitchFamily="34" charset="0"/>
              </a:rPr>
              <a:t>Cleansing</a:t>
            </a:r>
            <a:r>
              <a:rPr lang="es-ES" dirty="0">
                <a:latin typeface="Calibri" panose="020F0502020204030204" pitchFamily="34" charset="0"/>
                <a:ea typeface="Calibri" panose="020F0502020204030204" pitchFamily="34" charset="0"/>
                <a:cs typeface="Calibri" panose="020F0502020204030204" pitchFamily="34" charset="0"/>
              </a:rPr>
              <a:t>: El Control de Calidad del ETL</a:t>
            </a:r>
          </a:p>
        </p:txBody>
      </p:sp>
      <p:sp>
        <p:nvSpPr>
          <p:cNvPr id="3" name="Marcador de contenido 2">
            <a:extLst>
              <a:ext uri="{FF2B5EF4-FFF2-40B4-BE49-F238E27FC236}">
                <a16:creationId xmlns:a16="http://schemas.microsoft.com/office/drawing/2014/main" id="{903083E3-307E-BD67-432D-A555A6B20667}"/>
              </a:ext>
            </a:extLst>
          </p:cNvPr>
          <p:cNvSpPr>
            <a:spLocks noGrp="1"/>
          </p:cNvSpPr>
          <p:nvPr>
            <p:ph idx="1"/>
          </p:nvPr>
        </p:nvSpPr>
        <p:spPr>
          <a:xfrm>
            <a:off x="374792" y="1420878"/>
            <a:ext cx="8801211" cy="4765038"/>
          </a:xfrm>
        </p:spPr>
        <p:txBody>
          <a:bodyPr>
            <a:noAutofit/>
          </a:bodyPr>
          <a:lstStyle/>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La </a:t>
            </a:r>
            <a:r>
              <a:rPr lang="es-ES" sz="1500" b="1" dirty="0">
                <a:latin typeface="Calibri" panose="020F0502020204030204" pitchFamily="34" charset="0"/>
                <a:ea typeface="Calibri" panose="020F0502020204030204" pitchFamily="34" charset="0"/>
                <a:cs typeface="Calibri" panose="020F0502020204030204" pitchFamily="34" charset="0"/>
              </a:rPr>
              <a:t>limpieza de datos </a:t>
            </a:r>
            <a:r>
              <a:rPr lang="es-ES" sz="1500" dirty="0">
                <a:latin typeface="Calibri" panose="020F0502020204030204" pitchFamily="34" charset="0"/>
                <a:ea typeface="Calibri" panose="020F0502020204030204" pitchFamily="34" charset="0"/>
                <a:cs typeface="Calibri" panose="020F0502020204030204" pitchFamily="34" charset="0"/>
              </a:rPr>
              <a:t>no es solo borrar lo que estorba; es un proceso sistemático de validación para asegurar la integridad de la carga final. Se divide en cuatro pilares críticos:</a:t>
            </a:r>
          </a:p>
          <a:p>
            <a:pPr marL="494100" indent="-457200" algn="just">
              <a:buAutoNum type="arabicPeriod"/>
            </a:pPr>
            <a:r>
              <a:rPr lang="es-ES" sz="1500" b="1" dirty="0">
                <a:latin typeface="Calibri" panose="020F0502020204030204" pitchFamily="34" charset="0"/>
                <a:ea typeface="Calibri" panose="020F0502020204030204" pitchFamily="34" charset="0"/>
                <a:cs typeface="Calibri" panose="020F0502020204030204" pitchFamily="34" charset="0"/>
              </a:rPr>
              <a:t>Gestión de Valores Faltantes: </a:t>
            </a:r>
            <a:r>
              <a:rPr lang="es-ES" sz="1500" dirty="0">
                <a:latin typeface="Calibri" panose="020F0502020204030204" pitchFamily="34" charset="0"/>
                <a:ea typeface="Calibri" panose="020F0502020204030204" pitchFamily="34" charset="0"/>
                <a:cs typeface="Calibri" panose="020F0502020204030204" pitchFamily="34" charset="0"/>
              </a:rPr>
              <a:t>Es común que la extracción devuelva campos vacíos (</a:t>
            </a:r>
            <a:r>
              <a:rPr lang="es-ES" sz="1500" dirty="0" err="1">
                <a:latin typeface="Calibri" panose="020F0502020204030204" pitchFamily="34" charset="0"/>
                <a:ea typeface="Calibri" panose="020F0502020204030204" pitchFamily="34" charset="0"/>
                <a:cs typeface="Calibri" panose="020F0502020204030204" pitchFamily="34" charset="0"/>
              </a:rPr>
              <a:t>null</a:t>
            </a:r>
            <a:r>
              <a:rPr lang="es-ES" sz="1500" dirty="0">
                <a:latin typeface="Calibri" panose="020F0502020204030204" pitchFamily="34" charset="0"/>
                <a:ea typeface="Calibri" panose="020F0502020204030204" pitchFamily="34" charset="0"/>
                <a:cs typeface="Calibri" panose="020F0502020204030204" pitchFamily="34" charset="0"/>
              </a:rPr>
              <a:t>, NaN o </a:t>
            </a:r>
            <a:r>
              <a:rPr lang="es-ES" sz="1500" dirty="0" err="1">
                <a:latin typeface="Calibri" panose="020F0502020204030204" pitchFamily="34" charset="0"/>
                <a:ea typeface="Calibri" panose="020F0502020204030204" pitchFamily="34" charset="0"/>
                <a:cs typeface="Calibri" panose="020F0502020204030204" pitchFamily="34" charset="0"/>
              </a:rPr>
              <a:t>None</a:t>
            </a:r>
            <a:r>
              <a:rPr lang="es-ES" sz="1500" dirty="0">
                <a:latin typeface="Calibri" panose="020F0502020204030204" pitchFamily="34" charset="0"/>
                <a:ea typeface="Calibri" panose="020F0502020204030204" pitchFamily="34" charset="0"/>
                <a:cs typeface="Calibri" panose="020F0502020204030204" pitchFamily="34" charset="0"/>
              </a:rPr>
              <a:t>). El proceso ETL debe definir reglas de negocio para estos casos: Eliminación (</a:t>
            </a:r>
            <a:r>
              <a:rPr lang="es-ES" sz="1500" dirty="0" err="1">
                <a:latin typeface="Calibri" panose="020F0502020204030204" pitchFamily="34" charset="0"/>
                <a:ea typeface="Calibri" panose="020F0502020204030204" pitchFamily="34" charset="0"/>
                <a:cs typeface="Calibri" panose="020F0502020204030204" pitchFamily="34" charset="0"/>
              </a:rPr>
              <a:t>Dropping</a:t>
            </a:r>
            <a:r>
              <a:rPr lang="es-ES" sz="1500" dirty="0">
                <a:latin typeface="Calibri" panose="020F0502020204030204" pitchFamily="34" charset="0"/>
                <a:ea typeface="Calibri" panose="020F0502020204030204" pitchFamily="34" charset="0"/>
                <a:cs typeface="Calibri" panose="020F0502020204030204" pitchFamily="34" charset="0"/>
              </a:rPr>
              <a:t>) o Imputación (</a:t>
            </a:r>
            <a:r>
              <a:rPr lang="es-ES" sz="1500" dirty="0" err="1">
                <a:latin typeface="Calibri" panose="020F0502020204030204" pitchFamily="34" charset="0"/>
                <a:ea typeface="Calibri" panose="020F0502020204030204" pitchFamily="34" charset="0"/>
                <a:cs typeface="Calibri" panose="020F0502020204030204" pitchFamily="34" charset="0"/>
              </a:rPr>
              <a:t>Imputation</a:t>
            </a:r>
            <a:r>
              <a:rPr lang="es-ES" sz="1500" dirty="0">
                <a:latin typeface="Calibri" panose="020F0502020204030204" pitchFamily="34" charset="0"/>
                <a:ea typeface="Calibri" panose="020F0502020204030204" pitchFamily="34" charset="0"/>
                <a:cs typeface="Calibri" panose="020F0502020204030204" pitchFamily="34" charset="0"/>
              </a:rPr>
              <a:t>) </a:t>
            </a:r>
          </a:p>
          <a:p>
            <a:pPr marL="494100" indent="-457200" algn="just">
              <a:buAutoNum type="arabicPeriod"/>
            </a:pPr>
            <a:r>
              <a:rPr lang="es-ES" sz="1500" b="1" dirty="0" err="1">
                <a:latin typeface="Calibri" panose="020F0502020204030204" pitchFamily="34" charset="0"/>
                <a:ea typeface="Calibri" panose="020F0502020204030204" pitchFamily="34" charset="0"/>
                <a:cs typeface="Calibri" panose="020F0502020204030204" pitchFamily="34" charset="0"/>
              </a:rPr>
              <a:t>Desduplicación</a:t>
            </a:r>
            <a:r>
              <a:rPr lang="es-ES" sz="1500" b="1" dirty="0">
                <a:latin typeface="Calibri" panose="020F0502020204030204" pitchFamily="34" charset="0"/>
                <a:ea typeface="Calibri" panose="020F0502020204030204" pitchFamily="34" charset="0"/>
                <a:cs typeface="Calibri" panose="020F0502020204030204" pitchFamily="34" charset="0"/>
              </a:rPr>
              <a:t> (</a:t>
            </a:r>
            <a:r>
              <a:rPr lang="es-ES" sz="1500" b="1" dirty="0" err="1">
                <a:latin typeface="Calibri" panose="020F0502020204030204" pitchFamily="34" charset="0"/>
                <a:ea typeface="Calibri" panose="020F0502020204030204" pitchFamily="34" charset="0"/>
                <a:cs typeface="Calibri" panose="020F0502020204030204" pitchFamily="34" charset="0"/>
              </a:rPr>
              <a:t>Deduplication</a:t>
            </a:r>
            <a:r>
              <a:rPr lang="es-ES" sz="1500" b="1" dirty="0">
                <a:latin typeface="Calibri" panose="020F0502020204030204" pitchFamily="34" charset="0"/>
                <a:ea typeface="Calibri" panose="020F0502020204030204" pitchFamily="34" charset="0"/>
                <a:cs typeface="Calibri" panose="020F0502020204030204" pitchFamily="34" charset="0"/>
              </a:rPr>
              <a:t>): </a:t>
            </a:r>
            <a:r>
              <a:rPr lang="es-ES" sz="1500" dirty="0">
                <a:latin typeface="Calibri" panose="020F0502020204030204" pitchFamily="34" charset="0"/>
                <a:ea typeface="Calibri" panose="020F0502020204030204" pitchFamily="34" charset="0"/>
                <a:cs typeface="Calibri" panose="020F0502020204030204" pitchFamily="34" charset="0"/>
              </a:rPr>
              <a:t>Cuando extraemos de múltiples fuentes (como una API y Web </a:t>
            </a:r>
            <a:r>
              <a:rPr lang="es-ES" sz="1500" dirty="0" err="1">
                <a:latin typeface="Calibri" panose="020F0502020204030204" pitchFamily="34" charset="0"/>
                <a:ea typeface="Calibri" panose="020F0502020204030204" pitchFamily="34" charset="0"/>
                <a:cs typeface="Calibri" panose="020F0502020204030204" pitchFamily="34" charset="0"/>
              </a:rPr>
              <a:t>Scraping</a:t>
            </a:r>
            <a:r>
              <a:rPr lang="es-ES" sz="1500" dirty="0">
                <a:latin typeface="Calibri" panose="020F0502020204030204" pitchFamily="34" charset="0"/>
                <a:ea typeface="Calibri" panose="020F0502020204030204" pitchFamily="34" charset="0"/>
                <a:cs typeface="Calibri" panose="020F0502020204030204" pitchFamily="34" charset="0"/>
              </a:rPr>
              <a:t> a la vez), es altamente probable obtener registros repetidos. La limpieza consiste en definir una Llave Lógica para identificar duplicados y conservar únicamente la versión más reciente o más completa del dato.</a:t>
            </a:r>
          </a:p>
          <a:p>
            <a:pPr marL="494100" indent="-457200" algn="just">
              <a:buAutoNum type="arabicPeriod"/>
            </a:pPr>
            <a:r>
              <a:rPr lang="es-ES" sz="1500" b="1" dirty="0">
                <a:latin typeface="Calibri" panose="020F0502020204030204" pitchFamily="34" charset="0"/>
                <a:ea typeface="Calibri" panose="020F0502020204030204" pitchFamily="34" charset="0"/>
                <a:cs typeface="Calibri" panose="020F0502020204030204" pitchFamily="34" charset="0"/>
              </a:rPr>
              <a:t>Análisis de </a:t>
            </a:r>
            <a:r>
              <a:rPr lang="es-ES" sz="1500" b="1" dirty="0" err="1">
                <a:latin typeface="Calibri" panose="020F0502020204030204" pitchFamily="34" charset="0"/>
                <a:ea typeface="Calibri" panose="020F0502020204030204" pitchFamily="34" charset="0"/>
                <a:cs typeface="Calibri" panose="020F0502020204030204" pitchFamily="34" charset="0"/>
              </a:rPr>
              <a:t>Outliers</a:t>
            </a:r>
            <a:r>
              <a:rPr lang="es-ES" sz="1500" b="1" dirty="0">
                <a:latin typeface="Calibri" panose="020F0502020204030204" pitchFamily="34" charset="0"/>
                <a:ea typeface="Calibri" panose="020F0502020204030204" pitchFamily="34" charset="0"/>
                <a:cs typeface="Calibri" panose="020F0502020204030204" pitchFamily="34" charset="0"/>
              </a:rPr>
              <a:t> y Errores de Lectura: </a:t>
            </a:r>
            <a:r>
              <a:rPr lang="es-ES" sz="1500" dirty="0">
                <a:latin typeface="Calibri" panose="020F0502020204030204" pitchFamily="34" charset="0"/>
                <a:ea typeface="Calibri" panose="020F0502020204030204" pitchFamily="34" charset="0"/>
                <a:cs typeface="Calibri" panose="020F0502020204030204" pitchFamily="34" charset="0"/>
              </a:rPr>
              <a:t>Consiste en detectar valores que, aunque sean técnicamente correctos (</a:t>
            </a:r>
            <a:r>
              <a:rPr lang="es-ES" sz="1500" dirty="0" err="1">
                <a:latin typeface="Calibri" panose="020F0502020204030204" pitchFamily="34" charset="0"/>
                <a:ea typeface="Calibri" panose="020F0502020204030204" pitchFamily="34" charset="0"/>
                <a:cs typeface="Calibri" panose="020F0502020204030204" pitchFamily="34" charset="0"/>
              </a:rPr>
              <a:t>ej</a:t>
            </a:r>
            <a:r>
              <a:rPr lang="es-ES" sz="1500" dirty="0">
                <a:latin typeface="Calibri" panose="020F0502020204030204" pitchFamily="34" charset="0"/>
                <a:ea typeface="Calibri" panose="020F0502020204030204" pitchFamily="34" charset="0"/>
                <a:cs typeface="Calibri" panose="020F0502020204030204" pitchFamily="34" charset="0"/>
              </a:rPr>
              <a:t>: son números), no tienen sentido en el contexto del negocio. El proceso de limpieza debe filtrar o marcar estos registros para evitar que distorsionen los resultados.</a:t>
            </a:r>
          </a:p>
          <a:p>
            <a:pPr marL="494100" indent="-457200" algn="just">
              <a:buAutoNum type="arabicPeriod"/>
            </a:pPr>
            <a:r>
              <a:rPr lang="es-ES" sz="1500" b="1" dirty="0">
                <a:latin typeface="Calibri" panose="020F0502020204030204" pitchFamily="34" charset="0"/>
                <a:ea typeface="Calibri" panose="020F0502020204030204" pitchFamily="34" charset="0"/>
                <a:cs typeface="Calibri" panose="020F0502020204030204" pitchFamily="34" charset="0"/>
              </a:rPr>
              <a:t>Normalización de Caracteres:</a:t>
            </a:r>
          </a:p>
          <a:p>
            <a:pPr marL="871200" lvl="1" indent="-457200"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Eliminación de ruido: </a:t>
            </a:r>
            <a:r>
              <a:rPr lang="es-ES" sz="1500" dirty="0">
                <a:latin typeface="Calibri" panose="020F0502020204030204" pitchFamily="34" charset="0"/>
                <a:ea typeface="Calibri" panose="020F0502020204030204" pitchFamily="34" charset="0"/>
                <a:cs typeface="Calibri" panose="020F0502020204030204" pitchFamily="34" charset="0"/>
              </a:rPr>
              <a:t>Limpieza de espacios en blanco extra (</a:t>
            </a:r>
            <a:r>
              <a:rPr lang="es-ES" sz="1500" dirty="0" err="1">
                <a:latin typeface="Calibri" panose="020F0502020204030204" pitchFamily="34" charset="0"/>
                <a:ea typeface="Calibri" panose="020F0502020204030204" pitchFamily="34" charset="0"/>
                <a:cs typeface="Calibri" panose="020F0502020204030204" pitchFamily="34" charset="0"/>
              </a:rPr>
              <a:t>trimming</a:t>
            </a:r>
            <a:r>
              <a:rPr lang="es-ES" sz="1500" dirty="0">
                <a:latin typeface="Calibri" panose="020F0502020204030204" pitchFamily="34" charset="0"/>
                <a:ea typeface="Calibri" panose="020F0502020204030204" pitchFamily="34" charset="0"/>
                <a:cs typeface="Calibri" panose="020F0502020204030204" pitchFamily="34" charset="0"/>
              </a:rPr>
              <a:t>), saltos de línea (\n) y tabulaciones que suelen venir del HTML.</a:t>
            </a:r>
          </a:p>
          <a:p>
            <a:pPr marL="871200" lvl="1" indent="-457200"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Limpieza de caracteres especiales: </a:t>
            </a:r>
            <a:r>
              <a:rPr lang="es-ES" sz="1500" dirty="0">
                <a:latin typeface="Calibri" panose="020F0502020204030204" pitchFamily="34" charset="0"/>
                <a:ea typeface="Calibri" panose="020F0502020204030204" pitchFamily="34" charset="0"/>
                <a:cs typeface="Calibri" panose="020F0502020204030204" pitchFamily="34" charset="0"/>
              </a:rPr>
              <a:t>Eliminación de símbolos de moneda ($), comas de miles o emojis que rompen el casteo de tipos (convertir texto a número).</a:t>
            </a:r>
          </a:p>
        </p:txBody>
      </p:sp>
      <p:pic>
        <p:nvPicPr>
          <p:cNvPr id="8194" name="Picture 2" descr="COMO MEJORAR LA CALIDAD DE LOS DATOS EN TU ORGANIZACIÓN">
            <a:extLst>
              <a:ext uri="{FF2B5EF4-FFF2-40B4-BE49-F238E27FC236}">
                <a16:creationId xmlns:a16="http://schemas.microsoft.com/office/drawing/2014/main" id="{E3AF4B68-753F-231A-6AE6-0357D6F9A3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01273" y="4981576"/>
            <a:ext cx="2662238" cy="1549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04657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E3AC1-4CC6-ED98-5042-85652E2344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2274C1-22DF-E25E-5199-6CD02E1CD440}"/>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Estandarización y Normalización</a:t>
            </a:r>
          </a:p>
        </p:txBody>
      </p:sp>
      <p:sp>
        <p:nvSpPr>
          <p:cNvPr id="3" name="Marcador de contenido 2">
            <a:extLst>
              <a:ext uri="{FF2B5EF4-FFF2-40B4-BE49-F238E27FC236}">
                <a16:creationId xmlns:a16="http://schemas.microsoft.com/office/drawing/2014/main" id="{01A1E2E8-9CFD-2ACB-55BC-682975BC1D04}"/>
              </a:ext>
            </a:extLst>
          </p:cNvPr>
          <p:cNvSpPr>
            <a:spLocks noGrp="1"/>
          </p:cNvSpPr>
          <p:nvPr>
            <p:ph idx="1"/>
          </p:nvPr>
        </p:nvSpPr>
        <p:spPr>
          <a:xfrm>
            <a:off x="319928" y="1183133"/>
            <a:ext cx="8824072" cy="5347567"/>
          </a:xfrm>
        </p:spPr>
        <p:txBody>
          <a:bodyPr>
            <a:noAutofit/>
          </a:bodyPr>
          <a:lstStyle/>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La </a:t>
            </a:r>
            <a:r>
              <a:rPr lang="es-ES" sz="1500" b="1" dirty="0">
                <a:latin typeface="Calibri" panose="020F0502020204030204" pitchFamily="34" charset="0"/>
                <a:ea typeface="Calibri" panose="020F0502020204030204" pitchFamily="34" charset="0"/>
                <a:cs typeface="Calibri" panose="020F0502020204030204" pitchFamily="34" charset="0"/>
              </a:rPr>
              <a:t>estandarización</a:t>
            </a:r>
            <a:r>
              <a:rPr lang="es-ES" sz="1500" dirty="0">
                <a:latin typeface="Calibri" panose="020F0502020204030204" pitchFamily="34" charset="0"/>
                <a:ea typeface="Calibri" panose="020F0502020204030204" pitchFamily="34" charset="0"/>
                <a:cs typeface="Calibri" panose="020F0502020204030204" pitchFamily="34" charset="0"/>
              </a:rPr>
              <a:t> busca que datos provenientes de fuentes heterogéneas (como una API en JSON y un Web </a:t>
            </a:r>
            <a:r>
              <a:rPr lang="es-ES" sz="1500" dirty="0" err="1">
                <a:latin typeface="Calibri" panose="020F0502020204030204" pitchFamily="34" charset="0"/>
                <a:ea typeface="Calibri" panose="020F0502020204030204" pitchFamily="34" charset="0"/>
                <a:cs typeface="Calibri" panose="020F0502020204030204" pitchFamily="34" charset="0"/>
              </a:rPr>
              <a:t>Scraping</a:t>
            </a:r>
            <a:r>
              <a:rPr lang="es-ES" sz="1500" dirty="0">
                <a:latin typeface="Calibri" panose="020F0502020204030204" pitchFamily="34" charset="0"/>
                <a:ea typeface="Calibri" panose="020F0502020204030204" pitchFamily="34" charset="0"/>
                <a:cs typeface="Calibri" panose="020F0502020204030204" pitchFamily="34" charset="0"/>
              </a:rPr>
              <a:t> en HTML) se ajusten a un formato común antes de ser cargados.</a:t>
            </a:r>
          </a:p>
          <a:p>
            <a:pPr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Casteo de Tipos: </a:t>
            </a:r>
            <a:r>
              <a:rPr lang="es-ES" sz="1500" dirty="0">
                <a:latin typeface="Calibri" panose="020F0502020204030204" pitchFamily="34" charset="0"/>
                <a:ea typeface="Calibri" panose="020F0502020204030204" pitchFamily="34" charset="0"/>
                <a:cs typeface="Calibri" panose="020F0502020204030204" pitchFamily="34" charset="0"/>
              </a:rPr>
              <a:t>Es la conversión explícita de tipos de datos. Asegura que los valores extraídos como texto ("299.99") se transformen en tipos numéricos (</a:t>
            </a:r>
            <a:r>
              <a:rPr lang="es-ES" sz="1500" dirty="0" err="1">
                <a:latin typeface="Calibri" panose="020F0502020204030204" pitchFamily="34" charset="0"/>
                <a:ea typeface="Calibri" panose="020F0502020204030204" pitchFamily="34" charset="0"/>
                <a:cs typeface="Calibri" panose="020F0502020204030204" pitchFamily="34" charset="0"/>
              </a:rPr>
              <a:t>float</a:t>
            </a:r>
            <a:r>
              <a:rPr lang="es-ES" sz="1500" dirty="0">
                <a:latin typeface="Calibri" panose="020F0502020204030204" pitchFamily="34" charset="0"/>
                <a:ea typeface="Calibri" panose="020F0502020204030204" pitchFamily="34" charset="0"/>
                <a:cs typeface="Calibri" panose="020F0502020204030204" pitchFamily="34" charset="0"/>
              </a:rPr>
              <a:t>) para permitir operaciones matemáticas. </a:t>
            </a:r>
          </a:p>
          <a:p>
            <a:pPr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Unificación de Formatos de Texto: </a:t>
            </a:r>
            <a:r>
              <a:rPr lang="es-ES" sz="1500" dirty="0">
                <a:latin typeface="Calibri" panose="020F0502020204030204" pitchFamily="34" charset="0"/>
                <a:ea typeface="Calibri" panose="020F0502020204030204" pitchFamily="34" charset="0"/>
                <a:cs typeface="Calibri" panose="020F0502020204030204" pitchFamily="34" charset="0"/>
              </a:rPr>
              <a:t>Aplicación de reglas de capitalización (convertir todo a MAYÚSCULAS o minúsculas) y eliminación de variaciones lingüísticas. </a:t>
            </a:r>
          </a:p>
          <a:p>
            <a:pPr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Estructuración de Fechas y Horas: </a:t>
            </a:r>
            <a:r>
              <a:rPr lang="es-ES" sz="1500" dirty="0">
                <a:latin typeface="Calibri" panose="020F0502020204030204" pitchFamily="34" charset="0"/>
                <a:ea typeface="Calibri" panose="020F0502020204030204" pitchFamily="34" charset="0"/>
                <a:cs typeface="Calibri" panose="020F0502020204030204" pitchFamily="34" charset="0"/>
              </a:rPr>
              <a:t>Transformar cualquier formato de fecha encontrado (</a:t>
            </a:r>
            <a:r>
              <a:rPr lang="es-ES" sz="1500" dirty="0" err="1">
                <a:latin typeface="Calibri" panose="020F0502020204030204" pitchFamily="34" charset="0"/>
                <a:ea typeface="Calibri" panose="020F0502020204030204" pitchFamily="34" charset="0"/>
                <a:cs typeface="Calibri" panose="020F0502020204030204" pitchFamily="34" charset="0"/>
              </a:rPr>
              <a:t>ej</a:t>
            </a:r>
            <a:r>
              <a:rPr lang="es-ES" sz="1500" dirty="0">
                <a:latin typeface="Calibri" panose="020F0502020204030204" pitchFamily="34" charset="0"/>
                <a:ea typeface="Calibri" panose="020F0502020204030204" pitchFamily="34" charset="0"/>
                <a:cs typeface="Calibri" panose="020F0502020204030204" pitchFamily="34" charset="0"/>
              </a:rPr>
              <a:t>: "12/05/26" o "May 12, 2026") al estándar internacional ISO 8601 (YYYY-MM-DD). Esto es vital para análisis temporales y cronológicos.</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La </a:t>
            </a:r>
            <a:r>
              <a:rPr lang="es-ES" sz="1500" b="1" dirty="0">
                <a:latin typeface="Calibri" panose="020F0502020204030204" pitchFamily="34" charset="0"/>
                <a:ea typeface="Calibri" panose="020F0502020204030204" pitchFamily="34" charset="0"/>
                <a:cs typeface="Calibri" panose="020F0502020204030204" pitchFamily="34" charset="0"/>
              </a:rPr>
              <a:t>normalización</a:t>
            </a:r>
            <a:r>
              <a:rPr lang="es-ES" sz="1500" dirty="0">
                <a:latin typeface="Calibri" panose="020F0502020204030204" pitchFamily="34" charset="0"/>
                <a:ea typeface="Calibri" panose="020F0502020204030204" pitchFamily="34" charset="0"/>
                <a:cs typeface="Calibri" panose="020F0502020204030204" pitchFamily="34" charset="0"/>
              </a:rPr>
              <a:t> se enfoca en estructurar la información de manera que se reduzca la redundancia y se facilite la relación entre tablas.</a:t>
            </a:r>
          </a:p>
          <a:p>
            <a:pPr algn="just">
              <a:buFont typeface="Arial" panose="020B0604020202020204" pitchFamily="34" charset="0"/>
              <a:buChar char="•"/>
            </a:pPr>
            <a:r>
              <a:rPr lang="es-ES" sz="1500" b="1" dirty="0" err="1">
                <a:latin typeface="Calibri" panose="020F0502020204030204" pitchFamily="34" charset="0"/>
                <a:ea typeface="Calibri" panose="020F0502020204030204" pitchFamily="34" charset="0"/>
                <a:cs typeface="Calibri" panose="020F0502020204030204" pitchFamily="34" charset="0"/>
              </a:rPr>
              <a:t>Atenticidad</a:t>
            </a:r>
            <a:r>
              <a:rPr lang="es-ES" sz="1500" b="1" dirty="0">
                <a:latin typeface="Calibri" panose="020F0502020204030204" pitchFamily="34" charset="0"/>
                <a:ea typeface="Calibri" panose="020F0502020204030204" pitchFamily="34" charset="0"/>
                <a:cs typeface="Calibri" panose="020F0502020204030204" pitchFamily="34" charset="0"/>
              </a:rPr>
              <a:t> de los Datos (Atomicidad): </a:t>
            </a:r>
            <a:r>
              <a:rPr lang="es-ES" sz="1500" dirty="0">
                <a:latin typeface="Calibri" panose="020F0502020204030204" pitchFamily="34" charset="0"/>
                <a:ea typeface="Calibri" panose="020F0502020204030204" pitchFamily="34" charset="0"/>
                <a:cs typeface="Calibri" panose="020F0502020204030204" pitchFamily="34" charset="0"/>
              </a:rPr>
              <a:t>Asegurar que cada campo contenga una sola pieza de información. Si una descripción de producto trae "Color: Rojo, Memoria: 64GB", la normalización busca separar estos atributos en columnas independientes para facilitar filtros y búsquedas.</a:t>
            </a:r>
          </a:p>
          <a:p>
            <a:pPr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Escalamiento y Rangos: </a:t>
            </a:r>
            <a:r>
              <a:rPr lang="es-ES" sz="1500" dirty="0">
                <a:latin typeface="Calibri" panose="020F0502020204030204" pitchFamily="34" charset="0"/>
                <a:ea typeface="Calibri" panose="020F0502020204030204" pitchFamily="34" charset="0"/>
                <a:cs typeface="Calibri" panose="020F0502020204030204" pitchFamily="34" charset="0"/>
              </a:rPr>
              <a:t>Ajustar valores numéricos a una escala común. Si una fuente califica de 1 a 5 y otra de 1 a 100, la normalización recalcula los valores para que sean comparables bajo una misma métrica.</a:t>
            </a:r>
          </a:p>
          <a:p>
            <a:pPr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Creación de Llaves Lógicas (Keys): </a:t>
            </a:r>
            <a:r>
              <a:rPr lang="es-ES" sz="1500" dirty="0">
                <a:latin typeface="Calibri" panose="020F0502020204030204" pitchFamily="34" charset="0"/>
                <a:ea typeface="Calibri" panose="020F0502020204030204" pitchFamily="34" charset="0"/>
                <a:cs typeface="Calibri" panose="020F0502020204030204" pitchFamily="34" charset="0"/>
              </a:rPr>
              <a:t>Diseño de identificadores únicos que no dependan de la base de datos de origen. Aquí es donde se generan las llaves compuestas que permiten identificar un registro de forma inequívoca en todo el ecosistema de datos.</a:t>
            </a:r>
          </a:p>
        </p:txBody>
      </p:sp>
      <p:pic>
        <p:nvPicPr>
          <p:cNvPr id="9218" name="Picture 2" descr="Cómo estandarizar tu rutina de análisis de datos | AppsFlyer">
            <a:extLst>
              <a:ext uri="{FF2B5EF4-FFF2-40B4-BE49-F238E27FC236}">
                <a16:creationId xmlns:a16="http://schemas.microsoft.com/office/drawing/2014/main" id="{30F88241-9B0B-1763-7FCC-773EA8BECE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875" y="2494841"/>
            <a:ext cx="2724150" cy="272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43083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75C05-BE8E-7ABA-1EF4-E42509680D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19D20AD-6CA8-0081-A9FE-9ADB5BEF4BCF}"/>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Enriquecimiento de Datos</a:t>
            </a:r>
          </a:p>
        </p:txBody>
      </p:sp>
      <p:sp>
        <p:nvSpPr>
          <p:cNvPr id="3" name="Marcador de contenido 2">
            <a:extLst>
              <a:ext uri="{FF2B5EF4-FFF2-40B4-BE49-F238E27FC236}">
                <a16:creationId xmlns:a16="http://schemas.microsoft.com/office/drawing/2014/main" id="{D821F74B-F42B-23F2-A28D-F0C9E3A7C0D3}"/>
              </a:ext>
            </a:extLst>
          </p:cNvPr>
          <p:cNvSpPr>
            <a:spLocks noGrp="1"/>
          </p:cNvSpPr>
          <p:nvPr>
            <p:ph idx="1"/>
          </p:nvPr>
        </p:nvSpPr>
        <p:spPr>
          <a:xfrm>
            <a:off x="319928" y="1183133"/>
            <a:ext cx="6812392" cy="4458715"/>
          </a:xfrm>
        </p:spPr>
        <p:txBody>
          <a:bodyPr>
            <a:noAutofit/>
          </a:bodyPr>
          <a:lstStyle/>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El </a:t>
            </a:r>
            <a:r>
              <a:rPr lang="es-ES" sz="1500" b="1" dirty="0">
                <a:latin typeface="Calibri" panose="020F0502020204030204" pitchFamily="34" charset="0"/>
                <a:ea typeface="Calibri" panose="020F0502020204030204" pitchFamily="34" charset="0"/>
                <a:cs typeface="Calibri" panose="020F0502020204030204" pitchFamily="34" charset="0"/>
              </a:rPr>
              <a:t>enriquecimiento</a:t>
            </a:r>
            <a:r>
              <a:rPr lang="es-ES" sz="1500" dirty="0">
                <a:latin typeface="Calibri" panose="020F0502020204030204" pitchFamily="34" charset="0"/>
                <a:ea typeface="Calibri" panose="020F0502020204030204" pitchFamily="34" charset="0"/>
                <a:cs typeface="Calibri" panose="020F0502020204030204" pitchFamily="34" charset="0"/>
              </a:rPr>
              <a:t> es el proceso de combinar datos de fuentes externas o internas para proporcionar un contexto más profundo a la información original. Es el paso que transforma una simple "lista de precios" en una "herramienta de inteligencia de mercado".</a:t>
            </a:r>
          </a:p>
          <a:p>
            <a:pPr marL="379800" indent="-342900" algn="just">
              <a:buAutoNum type="arabicPeriod"/>
            </a:pPr>
            <a:r>
              <a:rPr lang="es-ES" sz="1500" dirty="0">
                <a:latin typeface="Calibri" panose="020F0502020204030204" pitchFamily="34" charset="0"/>
                <a:ea typeface="Calibri" panose="020F0502020204030204" pitchFamily="34" charset="0"/>
                <a:cs typeface="Calibri" panose="020F0502020204030204" pitchFamily="34" charset="0"/>
              </a:rPr>
              <a:t>Integración de Fuentes Externas: Consiste en añadir capas de información que no estaban presentes en la extracción original. </a:t>
            </a:r>
          </a:p>
          <a:p>
            <a:pPr marL="379800" indent="-342900" algn="just">
              <a:buAutoNum type="arabicPeriod"/>
            </a:pPr>
            <a:r>
              <a:rPr lang="es-ES" sz="1500" dirty="0">
                <a:latin typeface="Calibri" panose="020F0502020204030204" pitchFamily="34" charset="0"/>
                <a:ea typeface="Calibri" panose="020F0502020204030204" pitchFamily="34" charset="0"/>
                <a:cs typeface="Calibri" panose="020F0502020204030204" pitchFamily="34" charset="0"/>
              </a:rPr>
              <a:t>Derivación de Nuevos Atributos: A partir de los datos existentes, calculamos nuevas variables que facilitan el análisis.</a:t>
            </a:r>
          </a:p>
          <a:p>
            <a:pPr marL="379800" indent="-342900" algn="just">
              <a:buAutoNum type="arabicPeriod"/>
            </a:pPr>
            <a:r>
              <a:rPr lang="es-ES" sz="1500" dirty="0">
                <a:latin typeface="Calibri" panose="020F0502020204030204" pitchFamily="34" charset="0"/>
                <a:ea typeface="Calibri" panose="020F0502020204030204" pitchFamily="34" charset="0"/>
                <a:cs typeface="Calibri" panose="020F0502020204030204" pitchFamily="34" charset="0"/>
              </a:rPr>
              <a:t>Consolidación y Cruce de Información: Es la unión física de diferentes conjuntos de datos para crear un </a:t>
            </a:r>
            <a:r>
              <a:rPr lang="es-ES" sz="1500" dirty="0" err="1">
                <a:latin typeface="Calibri" panose="020F0502020204030204" pitchFamily="34" charset="0"/>
                <a:ea typeface="Calibri" panose="020F0502020204030204" pitchFamily="34" charset="0"/>
                <a:cs typeface="Calibri" panose="020F0502020204030204" pitchFamily="34" charset="0"/>
              </a:rPr>
              <a:t>DataFrame</a:t>
            </a:r>
            <a:r>
              <a:rPr lang="es-ES" sz="1500" dirty="0">
                <a:latin typeface="Calibri" panose="020F0502020204030204" pitchFamily="34" charset="0"/>
                <a:ea typeface="Calibri" panose="020F0502020204030204" pitchFamily="34" charset="0"/>
                <a:cs typeface="Calibri" panose="020F0502020204030204" pitchFamily="34" charset="0"/>
              </a:rPr>
              <a:t> Maestro.</a:t>
            </a:r>
          </a:p>
          <a:p>
            <a:pPr marL="379800" indent="-342900" algn="just">
              <a:buAutoNum type="arabicPeriod"/>
            </a:pPr>
            <a:r>
              <a:rPr lang="es-ES" sz="1500" dirty="0">
                <a:latin typeface="Calibri" panose="020F0502020204030204" pitchFamily="34" charset="0"/>
                <a:ea typeface="Calibri" panose="020F0502020204030204" pitchFamily="34" charset="0"/>
                <a:cs typeface="Calibri" panose="020F0502020204030204" pitchFamily="34" charset="0"/>
              </a:rPr>
              <a:t>Validación y Veracidad: El enriquecimiento también sirve para verificar la calidad. Si una fuente dice que un teléfono pesa 200kg, podemos contrastarlo con una base de datos maestra de especificaciones para marcar ese dato como erróneo antes de la carga final.</a:t>
            </a:r>
          </a:p>
        </p:txBody>
      </p:sp>
      <p:pic>
        <p:nvPicPr>
          <p:cNvPr id="7" name="Imagen 6">
            <a:extLst>
              <a:ext uri="{FF2B5EF4-FFF2-40B4-BE49-F238E27FC236}">
                <a16:creationId xmlns:a16="http://schemas.microsoft.com/office/drawing/2014/main" id="{E59B9BC9-E4A8-2C8C-86C4-F4932E8C5620}"/>
              </a:ext>
            </a:extLst>
          </p:cNvPr>
          <p:cNvPicPr>
            <a:picLocks noChangeAspect="1"/>
          </p:cNvPicPr>
          <p:nvPr/>
        </p:nvPicPr>
        <p:blipFill>
          <a:blip r:embed="rId3"/>
          <a:stretch>
            <a:fillRect/>
          </a:stretch>
        </p:blipFill>
        <p:spPr>
          <a:xfrm>
            <a:off x="7260840" y="3915289"/>
            <a:ext cx="4708656" cy="2608944"/>
          </a:xfrm>
          <a:prstGeom prst="rect">
            <a:avLst/>
          </a:prstGeom>
        </p:spPr>
      </p:pic>
    </p:spTree>
    <p:extLst>
      <p:ext uri="{BB962C8B-B14F-4D97-AF65-F5344CB8AC3E}">
        <p14:creationId xmlns:p14="http://schemas.microsoft.com/office/powerpoint/2010/main" val="30055157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3E5AF-7132-F5A0-2312-91916446F7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6A62B40-15D6-98EA-E001-7CEAAA2B5ED0}"/>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Herramientas</a:t>
            </a:r>
          </a:p>
        </p:txBody>
      </p:sp>
      <p:sp>
        <p:nvSpPr>
          <p:cNvPr id="3" name="Marcador de contenido 2">
            <a:extLst>
              <a:ext uri="{FF2B5EF4-FFF2-40B4-BE49-F238E27FC236}">
                <a16:creationId xmlns:a16="http://schemas.microsoft.com/office/drawing/2014/main" id="{14F8A4E0-55F3-BFF8-3384-57BE29C7911E}"/>
              </a:ext>
            </a:extLst>
          </p:cNvPr>
          <p:cNvSpPr>
            <a:spLocks noGrp="1"/>
          </p:cNvSpPr>
          <p:nvPr>
            <p:ph idx="1"/>
          </p:nvPr>
        </p:nvSpPr>
        <p:spPr>
          <a:xfrm>
            <a:off x="319928" y="1183133"/>
            <a:ext cx="6812392" cy="4458715"/>
          </a:xfrm>
        </p:spPr>
        <p:txBody>
          <a:bodyPr>
            <a:noAutofit/>
          </a:bodyPr>
          <a:lstStyle/>
          <a:p>
            <a:pPr marL="36900" indent="0" algn="just">
              <a:buNone/>
            </a:pPr>
            <a:r>
              <a:rPr lang="es-ES" sz="1500" b="1" dirty="0">
                <a:latin typeface="Calibri" panose="020F0502020204030204" pitchFamily="34" charset="0"/>
                <a:ea typeface="Calibri" panose="020F0502020204030204" pitchFamily="34" charset="0"/>
                <a:cs typeface="Calibri" panose="020F0502020204030204" pitchFamily="34" charset="0"/>
              </a:rPr>
              <a:t>Power Query </a:t>
            </a:r>
            <a:r>
              <a:rPr lang="es-ES" sz="1500" dirty="0">
                <a:latin typeface="Calibri" panose="020F0502020204030204" pitchFamily="34" charset="0"/>
                <a:ea typeface="Calibri" panose="020F0502020204030204" pitchFamily="34" charset="0"/>
                <a:cs typeface="Calibri" panose="020F0502020204030204" pitchFamily="34" charset="0"/>
              </a:rPr>
              <a:t>se ha consolidado como la herramienta de preparación de datos líder, gracias a su interfaz No-Code que democratiza procesos complejos de ingeniería de datos. Su núcleo reside en la capacidad de registrar cada paso de transformación en una secuencia de pasos aplicados, utilizando el lenguaje M por detrás para asegurar que el proceso sea 100% auditable y repetible. Microsoft integró el motor de Power Query directamente en Data Factory bajo el nombre de </a:t>
            </a:r>
            <a:r>
              <a:rPr lang="es-ES" sz="1500" dirty="0" err="1">
                <a:latin typeface="Calibri" panose="020F0502020204030204" pitchFamily="34" charset="0"/>
                <a:ea typeface="Calibri" panose="020F0502020204030204" pitchFamily="34" charset="0"/>
                <a:cs typeface="Calibri" panose="020F0502020204030204" pitchFamily="34" charset="0"/>
              </a:rPr>
              <a:t>Wrangling</a:t>
            </a:r>
            <a:r>
              <a:rPr lang="es-ES" sz="1500" dirty="0">
                <a:latin typeface="Calibri" panose="020F0502020204030204" pitchFamily="34" charset="0"/>
                <a:ea typeface="Calibri" panose="020F0502020204030204" pitchFamily="34" charset="0"/>
                <a:cs typeface="Calibri" panose="020F0502020204030204" pitchFamily="34" charset="0"/>
              </a:rPr>
              <a:t> Data </a:t>
            </a:r>
            <a:r>
              <a:rPr lang="es-ES" sz="1500" dirty="0" err="1">
                <a:latin typeface="Calibri" panose="020F0502020204030204" pitchFamily="34" charset="0"/>
                <a:ea typeface="Calibri" panose="020F0502020204030204" pitchFamily="34" charset="0"/>
                <a:cs typeface="Calibri" panose="020F0502020204030204" pitchFamily="34" charset="0"/>
              </a:rPr>
              <a:t>Flows</a:t>
            </a:r>
            <a:r>
              <a:rPr lang="es-ES" sz="1500" dirty="0">
                <a:latin typeface="Calibri" panose="020F0502020204030204" pitchFamily="34" charset="0"/>
                <a:ea typeface="Calibri" panose="020F0502020204030204" pitchFamily="34" charset="0"/>
                <a:cs typeface="Calibri" panose="020F0502020204030204" pitchFamily="34" charset="0"/>
              </a:rPr>
              <a:t>. </a:t>
            </a:r>
          </a:p>
          <a:p>
            <a:pPr marL="36900" indent="0" algn="just">
              <a:buNone/>
            </a:pPr>
            <a:r>
              <a:rPr lang="es-ES" sz="1500" b="1" dirty="0" err="1">
                <a:latin typeface="Calibri" panose="020F0502020204030204" pitchFamily="34" charset="0"/>
                <a:ea typeface="Calibri" panose="020F0502020204030204" pitchFamily="34" charset="0"/>
                <a:cs typeface="Calibri" panose="020F0502020204030204" pitchFamily="34" charset="0"/>
              </a:rPr>
              <a:t>Dataprep</a:t>
            </a:r>
            <a:r>
              <a:rPr lang="es-ES" sz="1500" b="1" dirty="0">
                <a:latin typeface="Calibri" panose="020F0502020204030204" pitchFamily="34" charset="0"/>
                <a:ea typeface="Calibri" panose="020F0502020204030204" pitchFamily="34" charset="0"/>
                <a:cs typeface="Calibri" panose="020F0502020204030204" pitchFamily="34" charset="0"/>
              </a:rPr>
              <a:t> (Google): </a:t>
            </a:r>
            <a:r>
              <a:rPr lang="es-ES" sz="1500" dirty="0">
                <a:latin typeface="Calibri" panose="020F0502020204030204" pitchFamily="34" charset="0"/>
                <a:ea typeface="Calibri" panose="020F0502020204030204" pitchFamily="34" charset="0"/>
                <a:cs typeface="Calibri" panose="020F0502020204030204" pitchFamily="34" charset="0"/>
              </a:rPr>
              <a:t>la herramienta de preparación de datos dentro de Google Cloud </a:t>
            </a:r>
            <a:r>
              <a:rPr lang="es-ES" sz="1500" dirty="0" err="1">
                <a:latin typeface="Calibri" panose="020F0502020204030204" pitchFamily="34" charset="0"/>
                <a:ea typeface="Calibri" panose="020F0502020204030204" pitchFamily="34" charset="0"/>
                <a:cs typeface="Calibri" panose="020F0502020204030204" pitchFamily="34" charset="0"/>
              </a:rPr>
              <a:t>Platform</a:t>
            </a:r>
            <a:r>
              <a:rPr lang="es-ES" sz="1500" dirty="0">
                <a:latin typeface="Calibri" panose="020F0502020204030204" pitchFamily="34" charset="0"/>
                <a:ea typeface="Calibri" panose="020F0502020204030204" pitchFamily="34" charset="0"/>
                <a:cs typeface="Calibri" panose="020F0502020204030204" pitchFamily="34" charset="0"/>
              </a:rPr>
              <a:t> (GCP). Puede ejecutar las transformaciones utilizando Cloud </a:t>
            </a:r>
            <a:r>
              <a:rPr lang="es-ES" sz="1500" dirty="0" err="1">
                <a:latin typeface="Calibri" panose="020F0502020204030204" pitchFamily="34" charset="0"/>
                <a:ea typeface="Calibri" panose="020F0502020204030204" pitchFamily="34" charset="0"/>
                <a:cs typeface="Calibri" panose="020F0502020204030204" pitchFamily="34" charset="0"/>
              </a:rPr>
              <a:t>Dataflow</a:t>
            </a:r>
            <a:r>
              <a:rPr lang="es-ES" sz="1500" dirty="0">
                <a:latin typeface="Calibri" panose="020F0502020204030204" pitchFamily="34" charset="0"/>
                <a:ea typeface="Calibri" panose="020F0502020204030204" pitchFamily="34" charset="0"/>
                <a:cs typeface="Calibri" panose="020F0502020204030204" pitchFamily="34" charset="0"/>
              </a:rPr>
              <a:t>, lo que le permite procesar </a:t>
            </a:r>
            <a:r>
              <a:rPr lang="es-ES" sz="1500" dirty="0" err="1">
                <a:latin typeface="Calibri" panose="020F0502020204030204" pitchFamily="34" charset="0"/>
                <a:ea typeface="Calibri" panose="020F0502020204030204" pitchFamily="34" charset="0"/>
                <a:cs typeface="Calibri" panose="020F0502020204030204" pitchFamily="34" charset="0"/>
              </a:rPr>
              <a:t>petabytes</a:t>
            </a:r>
            <a:r>
              <a:rPr lang="es-ES" sz="1500" dirty="0">
                <a:latin typeface="Calibri" panose="020F0502020204030204" pitchFamily="34" charset="0"/>
                <a:ea typeface="Calibri" panose="020F0502020204030204" pitchFamily="34" charset="0"/>
                <a:cs typeface="Calibri" panose="020F0502020204030204" pitchFamily="34" charset="0"/>
              </a:rPr>
              <a:t> de datos sin que el usuario tenga que gestionar servidores.</a:t>
            </a:r>
          </a:p>
          <a:p>
            <a:pPr marL="36900" indent="0" algn="just">
              <a:buNone/>
            </a:pPr>
            <a:r>
              <a:rPr lang="es-ES" sz="1500" b="1" dirty="0" err="1">
                <a:latin typeface="Calibri" panose="020F0502020204030204" pitchFamily="34" charset="0"/>
                <a:ea typeface="Calibri" panose="020F0502020204030204" pitchFamily="34" charset="0"/>
                <a:cs typeface="Calibri" panose="020F0502020204030204" pitchFamily="34" charset="0"/>
              </a:rPr>
              <a:t>DataBrew</a:t>
            </a:r>
            <a:r>
              <a:rPr lang="es-ES" sz="1500" b="1" dirty="0">
                <a:latin typeface="Calibri" panose="020F0502020204030204" pitchFamily="34" charset="0"/>
                <a:ea typeface="Calibri" panose="020F0502020204030204" pitchFamily="34" charset="0"/>
                <a:cs typeface="Calibri" panose="020F0502020204030204" pitchFamily="34" charset="0"/>
              </a:rPr>
              <a:t> (AWS): </a:t>
            </a:r>
            <a:r>
              <a:rPr lang="es-ES" sz="1500" dirty="0">
                <a:latin typeface="Calibri" panose="020F0502020204030204" pitchFamily="34" charset="0"/>
                <a:ea typeface="Calibri" panose="020F0502020204030204" pitchFamily="34" charset="0"/>
                <a:cs typeface="Calibri" panose="020F0502020204030204" pitchFamily="34" charset="0"/>
              </a:rPr>
              <a:t>ofrece más de 250 transformaciones predefinidas para automatizar tareas de limpieza y normalización. Es ideal para estandarizar formatos de datos antes de que estos sean analizados en Amazon S3 o cargados en </a:t>
            </a:r>
            <a:r>
              <a:rPr lang="es-ES" sz="1500" dirty="0" err="1">
                <a:latin typeface="Calibri" panose="020F0502020204030204" pitchFamily="34" charset="0"/>
                <a:ea typeface="Calibri" panose="020F0502020204030204" pitchFamily="34" charset="0"/>
                <a:cs typeface="Calibri" panose="020F0502020204030204" pitchFamily="34" charset="0"/>
              </a:rPr>
              <a:t>Redshift</a:t>
            </a:r>
            <a:r>
              <a:rPr lang="es-ES" sz="1500" dirty="0">
                <a:latin typeface="Calibri" panose="020F0502020204030204" pitchFamily="34" charset="0"/>
                <a:ea typeface="Calibri" panose="020F0502020204030204" pitchFamily="34" charset="0"/>
                <a:cs typeface="Calibri" panose="020F0502020204030204" pitchFamily="34" charset="0"/>
              </a:rPr>
              <a:t> (su Data </a:t>
            </a:r>
            <a:r>
              <a:rPr lang="es-ES" sz="1500" dirty="0" err="1">
                <a:latin typeface="Calibri" panose="020F0502020204030204" pitchFamily="34" charset="0"/>
                <a:ea typeface="Calibri" panose="020F0502020204030204" pitchFamily="34" charset="0"/>
                <a:cs typeface="Calibri" panose="020F0502020204030204" pitchFamily="34" charset="0"/>
              </a:rPr>
              <a:t>Warehouse</a:t>
            </a:r>
            <a:r>
              <a:rPr lang="es-ES" sz="1500" dirty="0">
                <a:latin typeface="Calibri" panose="020F0502020204030204" pitchFamily="34" charset="0"/>
                <a:ea typeface="Calibri" panose="020F0502020204030204" pitchFamily="34" charset="0"/>
                <a:cs typeface="Calibri" panose="020F0502020204030204" pitchFamily="34" charset="0"/>
              </a:rPr>
              <a:t>). Se integra perfectamente con el ecosistema de AWS, permitiendo que las transformaciones se ejecuten como trabajos programados dentro de un flujo ETL más grande y complejo.</a:t>
            </a:r>
          </a:p>
        </p:txBody>
      </p:sp>
      <p:pic>
        <p:nvPicPr>
          <p:cNvPr id="5" name="Imagen 4">
            <a:extLst>
              <a:ext uri="{FF2B5EF4-FFF2-40B4-BE49-F238E27FC236}">
                <a16:creationId xmlns:a16="http://schemas.microsoft.com/office/drawing/2014/main" id="{FD0DBBC7-5BCC-5A09-EBB1-96DFF580B135}"/>
              </a:ext>
            </a:extLst>
          </p:cNvPr>
          <p:cNvPicPr>
            <a:picLocks noChangeAspect="1"/>
          </p:cNvPicPr>
          <p:nvPr/>
        </p:nvPicPr>
        <p:blipFill>
          <a:blip r:embed="rId3"/>
          <a:stretch>
            <a:fillRect/>
          </a:stretch>
        </p:blipFill>
        <p:spPr>
          <a:xfrm>
            <a:off x="7324725" y="3976296"/>
            <a:ext cx="4720385" cy="2471384"/>
          </a:xfrm>
          <a:prstGeom prst="rect">
            <a:avLst/>
          </a:prstGeom>
        </p:spPr>
      </p:pic>
    </p:spTree>
    <p:extLst>
      <p:ext uri="{BB962C8B-B14F-4D97-AF65-F5344CB8AC3E}">
        <p14:creationId xmlns:p14="http://schemas.microsoft.com/office/powerpoint/2010/main" val="35608585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D0B1A-AFED-C936-716B-486D6BA3B5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7D8BCCF-3085-54FD-9431-06474007F311}"/>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LOB (Line </a:t>
            </a:r>
            <a:r>
              <a:rPr lang="es-ES" dirty="0" err="1">
                <a:latin typeface="Calibri" panose="020F0502020204030204" pitchFamily="34" charset="0"/>
                <a:ea typeface="Calibri" panose="020F0502020204030204" pitchFamily="34" charset="0"/>
                <a:cs typeface="Calibri" panose="020F0502020204030204" pitchFamily="34" charset="0"/>
              </a:rPr>
              <a:t>of</a:t>
            </a:r>
            <a:r>
              <a:rPr lang="es-ES" dirty="0">
                <a:latin typeface="Calibri" panose="020F0502020204030204" pitchFamily="34" charset="0"/>
                <a:ea typeface="Calibri" panose="020F0502020204030204" pitchFamily="34" charset="0"/>
                <a:cs typeface="Calibri" panose="020F0502020204030204" pitchFamily="34" charset="0"/>
              </a:rPr>
              <a:t> Business)</a:t>
            </a:r>
          </a:p>
        </p:txBody>
      </p:sp>
      <p:sp>
        <p:nvSpPr>
          <p:cNvPr id="3" name="Marcador de contenido 2">
            <a:extLst>
              <a:ext uri="{FF2B5EF4-FFF2-40B4-BE49-F238E27FC236}">
                <a16:creationId xmlns:a16="http://schemas.microsoft.com/office/drawing/2014/main" id="{4D5563C2-EC49-21BF-0E5E-AEE69FE708B6}"/>
              </a:ext>
            </a:extLst>
          </p:cNvPr>
          <p:cNvSpPr>
            <a:spLocks noGrp="1"/>
          </p:cNvSpPr>
          <p:nvPr>
            <p:ph idx="1"/>
          </p:nvPr>
        </p:nvSpPr>
        <p:spPr>
          <a:xfrm>
            <a:off x="566816" y="1905509"/>
            <a:ext cx="6949552" cy="2620771"/>
          </a:xfrm>
        </p:spPr>
        <p:txBody>
          <a:bodyPr>
            <a:noAutofit/>
          </a:bodyPr>
          <a:lstStyle/>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Una </a:t>
            </a:r>
            <a:r>
              <a:rPr lang="es-ES" sz="1500" b="1" dirty="0">
                <a:latin typeface="Calibri" panose="020F0502020204030204" pitchFamily="34" charset="0"/>
                <a:ea typeface="Calibri" panose="020F0502020204030204" pitchFamily="34" charset="0"/>
                <a:cs typeface="Calibri" panose="020F0502020204030204" pitchFamily="34" charset="0"/>
              </a:rPr>
              <a:t>LOB </a:t>
            </a:r>
            <a:r>
              <a:rPr lang="es-ES" sz="1500" dirty="0">
                <a:latin typeface="Calibri" panose="020F0502020204030204" pitchFamily="34" charset="0"/>
                <a:ea typeface="Calibri" panose="020F0502020204030204" pitchFamily="34" charset="0"/>
                <a:cs typeface="Calibri" panose="020F0502020204030204" pitchFamily="34" charset="0"/>
              </a:rPr>
              <a:t>es cualquier unidad funcional (Ventas, Finanzas, Logística, Marketing) que consume los datos para su operación diaria. Cada LOB suele trabajar en "silos". El equipo de Ventas puede usar un CRM (Salesforce), mientras que Logística usa un ERP (SAP). La fase de transformación es el único momento donde estos mundos colisionan para crear una verdad unificada.</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En una arquitectura de datos moderna, los datos no se transforman "porque sí", se transforman para satisfacer las necesidades de una Línea de Negocio específica. </a:t>
            </a:r>
          </a:p>
        </p:txBody>
      </p:sp>
      <p:pic>
        <p:nvPicPr>
          <p:cNvPr id="12290" name="Picture 2" descr="Extend Your Line of Business (LOB) Systems with Inogic's Expertise in  Microsoft low-code/no-code &amp; AI Powered tools! - Microsoft Dynamics 365 CRM  Tips and Tricks">
            <a:extLst>
              <a:ext uri="{FF2B5EF4-FFF2-40B4-BE49-F238E27FC236}">
                <a16:creationId xmlns:a16="http://schemas.microsoft.com/office/drawing/2014/main" id="{8F83BA1F-0881-6331-7CD7-F9146C8ADA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0184" y="4386924"/>
            <a:ext cx="5495544" cy="1431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8526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A2F34-0BBB-2DA6-50B3-E9BB6B0120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49775B8-84F1-EBC4-47B1-857E32769C0B}"/>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LOB (Line </a:t>
            </a:r>
            <a:r>
              <a:rPr lang="es-ES" dirty="0" err="1">
                <a:latin typeface="Calibri" panose="020F0502020204030204" pitchFamily="34" charset="0"/>
                <a:ea typeface="Calibri" panose="020F0502020204030204" pitchFamily="34" charset="0"/>
                <a:cs typeface="Calibri" panose="020F0502020204030204" pitchFamily="34" charset="0"/>
              </a:rPr>
              <a:t>of</a:t>
            </a:r>
            <a:r>
              <a:rPr lang="es-ES" dirty="0">
                <a:latin typeface="Calibri" panose="020F0502020204030204" pitchFamily="34" charset="0"/>
                <a:ea typeface="Calibri" panose="020F0502020204030204" pitchFamily="34" charset="0"/>
                <a:cs typeface="Calibri" panose="020F0502020204030204" pitchFamily="34" charset="0"/>
              </a:rPr>
              <a:t> Business)</a:t>
            </a:r>
          </a:p>
        </p:txBody>
      </p:sp>
      <p:sp>
        <p:nvSpPr>
          <p:cNvPr id="3" name="Marcador de contenido 2">
            <a:extLst>
              <a:ext uri="{FF2B5EF4-FFF2-40B4-BE49-F238E27FC236}">
                <a16:creationId xmlns:a16="http://schemas.microsoft.com/office/drawing/2014/main" id="{6FBC50C0-70C8-D9BF-874F-7490DAC16E47}"/>
              </a:ext>
            </a:extLst>
          </p:cNvPr>
          <p:cNvSpPr>
            <a:spLocks noGrp="1"/>
          </p:cNvSpPr>
          <p:nvPr>
            <p:ph idx="1"/>
          </p:nvPr>
        </p:nvSpPr>
        <p:spPr>
          <a:xfrm>
            <a:off x="621680" y="1475741"/>
            <a:ext cx="6839824" cy="3708907"/>
          </a:xfrm>
        </p:spPr>
        <p:txBody>
          <a:bodyPr>
            <a:noAutofit/>
          </a:bodyPr>
          <a:lstStyle/>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Transformación para LOB de Finanzas: el ámbito financiero, la transformación se centra en la exactitud matemática y el cumplimiento normativo. </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Transformación para LOB de Marketing: para el área de marketing, el valor reside en el conocimiento del cliente y la segmentación.</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Transformación para LOB de Operaciones: la línea de operaciones requiere datos que faciliten la logística y el control de inventarios en tiempo real. </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El Producto Final: El resultado final de una transformación alineada con las LOB es la eliminación de los "silos de datos". Al reconciliar las diferentes visiones departamentales en un único almacén de datos (Data </a:t>
            </a:r>
            <a:r>
              <a:rPr lang="es-ES" sz="1500" dirty="0" err="1">
                <a:latin typeface="Calibri" panose="020F0502020204030204" pitchFamily="34" charset="0"/>
                <a:ea typeface="Calibri" panose="020F0502020204030204" pitchFamily="34" charset="0"/>
                <a:cs typeface="Calibri" panose="020F0502020204030204" pitchFamily="34" charset="0"/>
              </a:rPr>
              <a:t>Warehouse</a:t>
            </a:r>
            <a:r>
              <a:rPr lang="es-ES" sz="1500" dirty="0">
                <a:latin typeface="Calibri" panose="020F0502020204030204" pitchFamily="34" charset="0"/>
                <a:ea typeface="Calibri" panose="020F0502020204030204" pitchFamily="34" charset="0"/>
                <a:cs typeface="Calibri" panose="020F0502020204030204" pitchFamily="34" charset="0"/>
              </a:rPr>
              <a:t>), el proceso ETL permite que la empresa tome decisiones basadas en una fuente única de verdad. Esto garantiza que, aunque cada LOB tenga sus propias reglas, todos los niveles de la organización analicen la información bajo los mismos estándares de calidad y coherencia.</a:t>
            </a:r>
          </a:p>
        </p:txBody>
      </p:sp>
      <p:pic>
        <p:nvPicPr>
          <p:cNvPr id="12290" name="Picture 2" descr="Extend Your Line of Business (LOB) Systems with Inogic's Expertise in  Microsoft low-code/no-code &amp; AI Powered tools! - Microsoft Dynamics 365 CRM  Tips and Tricks">
            <a:extLst>
              <a:ext uri="{FF2B5EF4-FFF2-40B4-BE49-F238E27FC236}">
                <a16:creationId xmlns:a16="http://schemas.microsoft.com/office/drawing/2014/main" id="{2BBC0955-6006-4449-80FE-C1F9B194E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1664" y="4892040"/>
            <a:ext cx="5495544" cy="1431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86822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23C68-2814-A3E9-A533-59D824E042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5C4BB0-FA96-92FF-40D6-76EFB4F985F0}"/>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Gobierno de datos</a:t>
            </a:r>
          </a:p>
        </p:txBody>
      </p:sp>
      <p:sp>
        <p:nvSpPr>
          <p:cNvPr id="3" name="Marcador de contenido 2">
            <a:extLst>
              <a:ext uri="{FF2B5EF4-FFF2-40B4-BE49-F238E27FC236}">
                <a16:creationId xmlns:a16="http://schemas.microsoft.com/office/drawing/2014/main" id="{27AE4C70-7407-20DC-26E9-D8A0605A5881}"/>
              </a:ext>
            </a:extLst>
          </p:cNvPr>
          <p:cNvSpPr>
            <a:spLocks noGrp="1"/>
          </p:cNvSpPr>
          <p:nvPr>
            <p:ph idx="1"/>
          </p:nvPr>
        </p:nvSpPr>
        <p:spPr>
          <a:xfrm>
            <a:off x="621680" y="1475741"/>
            <a:ext cx="7265020" cy="4353559"/>
          </a:xfrm>
        </p:spPr>
        <p:txBody>
          <a:bodyPr>
            <a:noAutofit/>
          </a:bodyPr>
          <a:lstStyle/>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El Árbitro de las Reglas (Estandarización): El Gobierno de Datos es el marco que define la Verdad Unificada, impidiendo que cada LOB (Ventas, Finanzas, etc.) tenga su propia versión de los hechos. Su función es armonizar las definiciones: si Finanzas y Marketing calculan el "margen" de forma distinta, el Gobierno dicta la fórmula oficial que el proceso ETL debe ejecutar en la fase de transformación.</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El Diccionario de Calidad (Validación): Actúa como el control de calidad del pipeline. El Gobierno de Datos establece el Diccionario de Datos (formatos, rangos y obligatoriedad), el cual sirve como manual de instrucciones para la limpieza y estandarización. Si un dato no cumple con estas políticas predefinidas, el proceso ETL lo rechaza, asegurando que solo información veraz llegue al destino final. </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Trazabilidad y Seguridad (Cumplimiento): El Gobierno garantiza el Linaje de Datos (saber de dónde viene cada dato y cómo cambió) y la seguridad. Durante la transformación, las políticas de gobierno dictan qué datos sensibles deben ser enmascarados o anonimizados. Esto convierte a la "Verdad Unificada" en un activo no solo limpio y útil para las LOB, sino también legalmente seguro y totalmente auditable.</a:t>
            </a:r>
          </a:p>
        </p:txBody>
      </p:sp>
      <p:pic>
        <p:nvPicPr>
          <p:cNvPr id="13316" name="Picture 4" descr="Pasos para desarrollar un buen Gobierno de Datos – LLASO">
            <a:extLst>
              <a:ext uri="{FF2B5EF4-FFF2-40B4-BE49-F238E27FC236}">
                <a16:creationId xmlns:a16="http://schemas.microsoft.com/office/drawing/2014/main" id="{DC91B7EB-511A-94C1-B773-A49BA15DC2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7250" y="3536119"/>
            <a:ext cx="3178795" cy="3178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50579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izarra">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izarra">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izarra">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TM04033929[[fn=Pizarra]]</Template>
  <TotalTime>853</TotalTime>
  <Words>4958</Words>
  <Application>Microsoft Office PowerPoint</Application>
  <PresentationFormat>Panorámica</PresentationFormat>
  <Paragraphs>168</Paragraphs>
  <Slides>33</Slides>
  <Notes>21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33</vt:i4>
      </vt:variant>
    </vt:vector>
  </HeadingPairs>
  <TitlesOfParts>
    <vt:vector size="39" baseType="lpstr">
      <vt:lpstr>Aptos</vt:lpstr>
      <vt:lpstr>Arial</vt:lpstr>
      <vt:lpstr>Calibri</vt:lpstr>
      <vt:lpstr>Calisto MT</vt:lpstr>
      <vt:lpstr>Wingdings 2</vt:lpstr>
      <vt:lpstr>Pizarra</vt:lpstr>
      <vt:lpstr>Diseño de procesos ETL</vt:lpstr>
      <vt:lpstr>Semana 1</vt:lpstr>
      <vt:lpstr>Caso: "Librería El Faro"</vt:lpstr>
      <vt:lpstr>Caso: "Manufacturas Apex y el Salto a la Nube"</vt:lpstr>
      <vt:lpstr>¿Qué son los procesos ETL?</vt:lpstr>
      <vt:lpstr>¿Por qué se inventaron los procesos ETL?</vt:lpstr>
      <vt:lpstr>El Viaje de los datos</vt:lpstr>
      <vt:lpstr>Extracción</vt:lpstr>
      <vt:lpstr>Transformación</vt:lpstr>
      <vt:lpstr>Carga</vt:lpstr>
      <vt:lpstr>Riesgos</vt:lpstr>
      <vt:lpstr>Gobierno de datos</vt:lpstr>
      <vt:lpstr>Modelado de Datos</vt:lpstr>
      <vt:lpstr>Modelado de Datos</vt:lpstr>
      <vt:lpstr>Modelado de Datos</vt:lpstr>
      <vt:lpstr>Modelado de Datos</vt:lpstr>
      <vt:lpstr>CRM (Customer Relationship Management)</vt:lpstr>
      <vt:lpstr>CRM (Customer Relationship Management)</vt:lpstr>
      <vt:lpstr>Semana 2</vt:lpstr>
      <vt:lpstr>Fuente de datos</vt:lpstr>
      <vt:lpstr>Extracción de datos</vt:lpstr>
      <vt:lpstr>Puertas oficiales</vt:lpstr>
      <vt:lpstr>Transferencia de archivos</vt:lpstr>
      <vt:lpstr>Web Scraping</vt:lpstr>
      <vt:lpstr>Gobierno y Ética</vt:lpstr>
      <vt:lpstr>Transformación</vt:lpstr>
      <vt:lpstr>Data Cleansing: El Control de Calidad del ETL</vt:lpstr>
      <vt:lpstr>Estandarización y Normalización</vt:lpstr>
      <vt:lpstr>Enriquecimiento de Datos</vt:lpstr>
      <vt:lpstr>Herramientas</vt:lpstr>
      <vt:lpstr>LOB (Line of Business)</vt:lpstr>
      <vt:lpstr>LOB (Line of Business)</vt:lpstr>
      <vt:lpstr>Gobierno de datos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Sebastián Arbeláez Trujillo</dc:creator>
  <cp:lastModifiedBy>Juan Sebastián Arbeláez Trujillo</cp:lastModifiedBy>
  <cp:revision>12</cp:revision>
  <dcterms:created xsi:type="dcterms:W3CDTF">2026-04-13T12:35:48Z</dcterms:created>
  <dcterms:modified xsi:type="dcterms:W3CDTF">2026-04-23T16:02:00Z</dcterms:modified>
</cp:coreProperties>
</file>