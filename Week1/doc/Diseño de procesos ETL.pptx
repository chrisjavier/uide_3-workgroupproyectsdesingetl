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C0DF2-7301-452E-A3DB-8647F2438B96}" type="datetimeFigureOut">
              <a:rPr lang="es-ES" smtClean="0"/>
              <a:t>15/04/2026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1681C-B09C-4981-AB1F-13C99301EB94}" type="slidenum">
              <a:rPr lang="es-ES" smtClean="0"/>
              <a:t>‹Nº›</a:t>
            </a:fld>
            <a:endParaRPr lang="es-ES"/>
          </a:p>
        </p:txBody>
      </p:sp>
    </p:spTree>
    <p:extLst>
      <p:ext uri="{BB962C8B-B14F-4D97-AF65-F5344CB8AC3E}">
        <p14:creationId xmlns:p14="http://schemas.microsoft.com/office/powerpoint/2010/main" val="2223783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CEA1681C-B09C-4981-AB1F-13C99301EB94}" type="slidenum">
              <a:rPr lang="es-ES" smtClean="0"/>
              <a:t>11</a:t>
            </a:fld>
            <a:endParaRPr lang="es-ES"/>
          </a:p>
        </p:txBody>
      </p:sp>
    </p:spTree>
    <p:extLst>
      <p:ext uri="{BB962C8B-B14F-4D97-AF65-F5344CB8AC3E}">
        <p14:creationId xmlns:p14="http://schemas.microsoft.com/office/powerpoint/2010/main" val="1383925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7DF0-C2B9-2C04-4B37-7F194BF1964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93B06F-CC45-3902-7D94-6A8B5DCDF8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6FC907-55D7-4934-C111-53336739EDA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0742A9E-9AC5-1A0E-6F00-9AE3634AD1B6}"/>
              </a:ext>
            </a:extLst>
          </p:cNvPr>
          <p:cNvSpPr>
            <a:spLocks noGrp="1"/>
          </p:cNvSpPr>
          <p:nvPr>
            <p:ph type="sldNum" sz="quarter" idx="5"/>
          </p:nvPr>
        </p:nvSpPr>
        <p:spPr/>
        <p:txBody>
          <a:bodyPr/>
          <a:lstStyle/>
          <a:p>
            <a:fld id="{CEA1681C-B09C-4981-AB1F-13C99301EB94}" type="slidenum">
              <a:rPr lang="es-ES" smtClean="0"/>
              <a:t>12</a:t>
            </a:fld>
            <a:endParaRPr lang="es-ES"/>
          </a:p>
        </p:txBody>
      </p:sp>
    </p:spTree>
    <p:extLst>
      <p:ext uri="{BB962C8B-B14F-4D97-AF65-F5344CB8AC3E}">
        <p14:creationId xmlns:p14="http://schemas.microsoft.com/office/powerpoint/2010/main" val="887512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93C31-F8CA-6E36-CF3B-18DC0DE917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52CF16-8A5D-E640-828B-3D9805137B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CEF43F-2160-508C-4C3D-25059B43CF8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D745949-7BE8-D013-01DB-6E9B376884AE}"/>
              </a:ext>
            </a:extLst>
          </p:cNvPr>
          <p:cNvSpPr>
            <a:spLocks noGrp="1"/>
          </p:cNvSpPr>
          <p:nvPr>
            <p:ph type="sldNum" sz="quarter" idx="5"/>
          </p:nvPr>
        </p:nvSpPr>
        <p:spPr/>
        <p:txBody>
          <a:bodyPr/>
          <a:lstStyle/>
          <a:p>
            <a:fld id="{CEA1681C-B09C-4981-AB1F-13C99301EB94}" type="slidenum">
              <a:rPr lang="es-ES" smtClean="0"/>
              <a:t>13</a:t>
            </a:fld>
            <a:endParaRPr lang="es-ES"/>
          </a:p>
        </p:txBody>
      </p:sp>
    </p:spTree>
    <p:extLst>
      <p:ext uri="{BB962C8B-B14F-4D97-AF65-F5344CB8AC3E}">
        <p14:creationId xmlns:p14="http://schemas.microsoft.com/office/powerpoint/2010/main" val="2854479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1CD3E-C401-2C93-A712-1115DADA7A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799995-C3C7-0947-D107-FFDB7839E97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98588D6-FCD3-E032-87C9-4D4EC7D92AF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9484069-6515-2607-04E4-2F890B56317D}"/>
              </a:ext>
            </a:extLst>
          </p:cNvPr>
          <p:cNvSpPr>
            <a:spLocks noGrp="1"/>
          </p:cNvSpPr>
          <p:nvPr>
            <p:ph type="sldNum" sz="quarter" idx="5"/>
          </p:nvPr>
        </p:nvSpPr>
        <p:spPr/>
        <p:txBody>
          <a:bodyPr/>
          <a:lstStyle/>
          <a:p>
            <a:fld id="{CEA1681C-B09C-4981-AB1F-13C99301EB94}" type="slidenum">
              <a:rPr lang="es-ES" smtClean="0"/>
              <a:t>14</a:t>
            </a:fld>
            <a:endParaRPr lang="es-ES"/>
          </a:p>
        </p:txBody>
      </p:sp>
    </p:spTree>
    <p:extLst>
      <p:ext uri="{BB962C8B-B14F-4D97-AF65-F5344CB8AC3E}">
        <p14:creationId xmlns:p14="http://schemas.microsoft.com/office/powerpoint/2010/main" val="529389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5968-CBBD-7F5B-0CF8-471DF0305B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A3381C-F3BF-A8E4-87E7-88BA84B82AC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8A9F91-43FB-227C-ECFF-D32A2B2E7C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4520A0-3651-1F2A-C584-B4C4CEC90CA2}"/>
              </a:ext>
            </a:extLst>
          </p:cNvPr>
          <p:cNvSpPr>
            <a:spLocks noGrp="1"/>
          </p:cNvSpPr>
          <p:nvPr>
            <p:ph type="sldNum" sz="quarter" idx="5"/>
          </p:nvPr>
        </p:nvSpPr>
        <p:spPr/>
        <p:txBody>
          <a:bodyPr/>
          <a:lstStyle/>
          <a:p>
            <a:fld id="{CEA1681C-B09C-4981-AB1F-13C99301EB94}" type="slidenum">
              <a:rPr lang="es-ES" smtClean="0"/>
              <a:t>15</a:t>
            </a:fld>
            <a:endParaRPr lang="es-ES"/>
          </a:p>
        </p:txBody>
      </p:sp>
    </p:spTree>
    <p:extLst>
      <p:ext uri="{BB962C8B-B14F-4D97-AF65-F5344CB8AC3E}">
        <p14:creationId xmlns:p14="http://schemas.microsoft.com/office/powerpoint/2010/main" val="1909564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C05C7-3926-2FDB-0D44-E0D1817ECF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FBADEB-06A9-D02C-6A00-3E84336EA2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B649A61-868C-0416-87A1-9210A908A4F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03758CB-23D5-13A5-DBA1-CA68DB0081D3}"/>
              </a:ext>
            </a:extLst>
          </p:cNvPr>
          <p:cNvSpPr>
            <a:spLocks noGrp="1"/>
          </p:cNvSpPr>
          <p:nvPr>
            <p:ph type="sldNum" sz="quarter" idx="5"/>
          </p:nvPr>
        </p:nvSpPr>
        <p:spPr/>
        <p:txBody>
          <a:bodyPr/>
          <a:lstStyle/>
          <a:p>
            <a:fld id="{CEA1681C-B09C-4981-AB1F-13C99301EB94}" type="slidenum">
              <a:rPr lang="es-ES" smtClean="0"/>
              <a:t>16</a:t>
            </a:fld>
            <a:endParaRPr lang="es-ES"/>
          </a:p>
        </p:txBody>
      </p:sp>
    </p:spTree>
    <p:extLst>
      <p:ext uri="{BB962C8B-B14F-4D97-AF65-F5344CB8AC3E}">
        <p14:creationId xmlns:p14="http://schemas.microsoft.com/office/powerpoint/2010/main" val="181591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E530C-9800-8FE0-7C5E-D5706082AC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D5E0FB-FC18-AA69-A7D6-C5AAEBE313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77FB2E-5709-9389-440B-0CAE9AC8F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E67EA9-7415-2B9E-700B-D2CEA671247C}"/>
              </a:ext>
            </a:extLst>
          </p:cNvPr>
          <p:cNvSpPr>
            <a:spLocks noGrp="1"/>
          </p:cNvSpPr>
          <p:nvPr>
            <p:ph type="sldNum" sz="quarter" idx="5"/>
          </p:nvPr>
        </p:nvSpPr>
        <p:spPr/>
        <p:txBody>
          <a:bodyPr/>
          <a:lstStyle/>
          <a:p>
            <a:fld id="{CEA1681C-B09C-4981-AB1F-13C99301EB94}" type="slidenum">
              <a:rPr lang="es-ES" smtClean="0"/>
              <a:t>17</a:t>
            </a:fld>
            <a:endParaRPr lang="es-ES"/>
          </a:p>
        </p:txBody>
      </p:sp>
    </p:spTree>
    <p:extLst>
      <p:ext uri="{BB962C8B-B14F-4D97-AF65-F5344CB8AC3E}">
        <p14:creationId xmlns:p14="http://schemas.microsoft.com/office/powerpoint/2010/main" val="693521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15/04/2026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814708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15/04/2026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1418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31FE3FE-76F8-42BA-9D1D-4770D21D5F6B}" type="datetimeFigureOut">
              <a:rPr lang="es-ES" smtClean="0"/>
              <a:t>15/04/2026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482705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31FE3FE-76F8-42BA-9D1D-4770D21D5F6B}" type="datetimeFigureOut">
              <a:rPr lang="es-ES" smtClean="0"/>
              <a:t>15/04/2026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2440959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31FE3FE-76F8-42BA-9D1D-4770D21D5F6B}" type="datetimeFigureOut">
              <a:rPr lang="es-ES" smtClean="0"/>
              <a:t>15/04/2026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647429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31FE3FE-76F8-42BA-9D1D-4770D21D5F6B}" type="datetimeFigureOut">
              <a:rPr lang="es-ES" smtClean="0"/>
              <a:t>15/04/2026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43597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1FE3FE-76F8-42BA-9D1D-4770D21D5F6B}" type="datetimeFigureOut">
              <a:rPr lang="es-ES" smtClean="0"/>
              <a:t>15/04/2026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42157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15/04/2026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11943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15/04/2026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892772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15/04/2026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502543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15/04/2026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958118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15/04/2026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80117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15/04/2026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629590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31FE3FE-76F8-42BA-9D1D-4770D21D5F6B}" type="datetimeFigureOut">
              <a:rPr lang="es-ES" smtClean="0"/>
              <a:t>15/04/2026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124256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31FE3FE-76F8-42BA-9D1D-4770D21D5F6B}" type="datetimeFigureOut">
              <a:rPr lang="es-ES" smtClean="0"/>
              <a:t>15/04/2026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2400044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15/04/2026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972899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15/04/2026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745979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31FE3FE-76F8-42BA-9D1D-4770D21D5F6B}" type="datetimeFigureOut">
              <a:rPr lang="es-ES" smtClean="0"/>
              <a:t>15/04/2026</a:t>
            </a:fld>
            <a:endParaRPr lang="es-E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E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F0B2549-CBAC-42F6-98C1-63B41DEF1AC7}" type="slidenum">
              <a:rPr lang="es-ES" smtClean="0"/>
              <a:t>‹Nº›</a:t>
            </a:fld>
            <a:endParaRPr lang="es-ES"/>
          </a:p>
        </p:txBody>
      </p:sp>
    </p:spTree>
    <p:extLst>
      <p:ext uri="{BB962C8B-B14F-4D97-AF65-F5344CB8AC3E}">
        <p14:creationId xmlns:p14="http://schemas.microsoft.com/office/powerpoint/2010/main" val="3289907064"/>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64F6A-8285-41F1-5AB9-3296D60A7B05}"/>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Diseño de procesos ETL</a:t>
            </a:r>
          </a:p>
        </p:txBody>
      </p:sp>
      <p:sp>
        <p:nvSpPr>
          <p:cNvPr id="3" name="Subtítulo 2">
            <a:extLst>
              <a:ext uri="{FF2B5EF4-FFF2-40B4-BE49-F238E27FC236}">
                <a16:creationId xmlns:a16="http://schemas.microsoft.com/office/drawing/2014/main" id="{543A56EF-9E00-15B4-E8DF-71B4A437998B}"/>
              </a:ext>
            </a:extLst>
          </p:cNvPr>
          <p:cNvSpPr>
            <a:spLocks noGrp="1"/>
          </p:cNvSpPr>
          <p:nvPr>
            <p:ph type="subTitle" idx="1"/>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Juan Sebastián Arbeláez Trujillo</a:t>
            </a:r>
          </a:p>
        </p:txBody>
      </p:sp>
    </p:spTree>
    <p:extLst>
      <p:ext uri="{BB962C8B-B14F-4D97-AF65-F5344CB8AC3E}">
        <p14:creationId xmlns:p14="http://schemas.microsoft.com/office/powerpoint/2010/main" val="2000072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9FE94D-786A-7F76-10D1-47D465089D63}"/>
              </a:ext>
            </a:extLst>
          </p:cNvPr>
          <p:cNvSpPr>
            <a:spLocks noGrp="1"/>
          </p:cNvSpPr>
          <p:nvPr>
            <p:ph type="title"/>
          </p:nvPr>
        </p:nvSpPr>
        <p:spPr/>
        <p:txBody>
          <a:bodyPr>
            <a:normAutofit/>
          </a:bodyPr>
          <a:lstStyle/>
          <a:p>
            <a:r>
              <a:rPr lang="es-ES" b="1" dirty="0">
                <a:latin typeface="Calibri" panose="020F0502020204030204" pitchFamily="34" charset="0"/>
                <a:ea typeface="Calibri" panose="020F0502020204030204" pitchFamily="34" charset="0"/>
                <a:cs typeface="Calibri" panose="020F0502020204030204" pitchFamily="34" charset="0"/>
              </a:rPr>
              <a:t>Caso: "Librería El Faro"</a:t>
            </a:r>
            <a:endParaRPr lang="es-ES" dirty="0">
              <a:latin typeface="Calibri" panose="020F0502020204030204" pitchFamily="34" charset="0"/>
              <a:ea typeface="Calibri" panose="020F0502020204030204" pitchFamily="34" charset="0"/>
              <a:cs typeface="Calibri" panose="020F0502020204030204" pitchFamily="34" charset="0"/>
            </a:endParaRPr>
          </a:p>
        </p:txBody>
      </p:sp>
      <p:sp>
        <p:nvSpPr>
          <p:cNvPr id="3" name="Marcador de contenido 2">
            <a:extLst>
              <a:ext uri="{FF2B5EF4-FFF2-40B4-BE49-F238E27FC236}">
                <a16:creationId xmlns:a16="http://schemas.microsoft.com/office/drawing/2014/main" id="{8467ECA3-1A5F-5F8C-0585-468D19CA0E38}"/>
              </a:ext>
            </a:extLst>
          </p:cNvPr>
          <p:cNvSpPr>
            <a:spLocks noGrp="1"/>
          </p:cNvSpPr>
          <p:nvPr>
            <p:ph idx="1"/>
          </p:nvPr>
        </p:nvSpPr>
        <p:spPr>
          <a:xfrm>
            <a:off x="374299" y="1796457"/>
            <a:ext cx="6426551" cy="3870918"/>
          </a:xfrm>
        </p:spPr>
        <p:txBody>
          <a:bodyPr>
            <a:normAutofit fontScale="85000" lnSpcReduction="1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Librería </a:t>
            </a:r>
            <a:r>
              <a:rPr lang="es-ES" b="1" dirty="0">
                <a:latin typeface="Calibri" panose="020F0502020204030204" pitchFamily="34" charset="0"/>
                <a:ea typeface="Calibri" panose="020F0502020204030204" pitchFamily="34" charset="0"/>
                <a:cs typeface="Calibri" panose="020F0502020204030204" pitchFamily="34" charset="0"/>
              </a:rPr>
              <a:t>El Faro </a:t>
            </a:r>
            <a:r>
              <a:rPr lang="es-ES" dirty="0">
                <a:latin typeface="Calibri" panose="020F0502020204030204" pitchFamily="34" charset="0"/>
                <a:ea typeface="Calibri" panose="020F0502020204030204" pitchFamily="34" charset="0"/>
                <a:cs typeface="Calibri" panose="020F0502020204030204" pitchFamily="34" charset="0"/>
              </a:rPr>
              <a:t>comenzó como un pequeño local en el centro de la ciudad. Con el tiempo, abrieron dos sucursales más y lanzaron una página web para vender en línea. Sin embargo, cada parte del negocio opera como una isla separada: el inventario de la tienda física se lleva en un programa antiguo, las ventas por internet están en una plataforma web distinta, y el servicio de atención al cliente anota los reclamos y pedidos especiales en un archivo de Excel.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Este desorden genera problemas a diario. A veces, un cliente compra un libro en la página web que ya se había vendido esa misma mañana en la tienda física, porque los sistemas no se comunican. Además, si un cliente habitual llama para quejarse de un envío retrasado, el equipo de atención al cliente no tiene forma de ver su historial de compras en la tienda física para ofrecerle una compensación adecuada, perdiendo la oportunidad de fidelizarlo.</a:t>
            </a:r>
          </a:p>
          <a:p>
            <a:pPr marL="36900" indent="0" algn="just">
              <a:buNone/>
            </a:pPr>
            <a:endParaRPr lang="es-ES"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dibujos animados librería interior con libros en estantería 24232025 Vector  en Vecteezy">
            <a:extLst>
              <a:ext uri="{FF2B5EF4-FFF2-40B4-BE49-F238E27FC236}">
                <a16:creationId xmlns:a16="http://schemas.microsoft.com/office/drawing/2014/main" id="{26DBDF27-1067-53F2-6390-3AB5128E22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3635882"/>
            <a:ext cx="4972050" cy="2237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275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F8AC6-84AB-1B2B-4DA5-A55E80E606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5AD500-4261-88A6-15F7-93AF0AF3B222}"/>
              </a:ext>
            </a:extLst>
          </p:cNvPr>
          <p:cNvSpPr>
            <a:spLocks noGrp="1"/>
          </p:cNvSpPr>
          <p:nvPr>
            <p:ph type="title"/>
          </p:nvPr>
        </p:nvSpPr>
        <p:spPr/>
        <p:txBody>
          <a:bodyPr>
            <a:normAutofit fontScale="90000"/>
          </a:bodyPr>
          <a:lstStyle/>
          <a:p>
            <a:r>
              <a:rPr lang="es-ES" b="1" dirty="0"/>
              <a:t>Caso: "Manufacturas </a:t>
            </a:r>
            <a:r>
              <a:rPr lang="es-ES" b="1" dirty="0" err="1"/>
              <a:t>Apex</a:t>
            </a:r>
            <a:r>
              <a:rPr lang="es-ES" b="1" dirty="0"/>
              <a:t> y el Salto a la Nube"</a:t>
            </a:r>
            <a:endParaRPr lang="es-ES" dirty="0"/>
          </a:p>
        </p:txBody>
      </p:sp>
      <p:sp>
        <p:nvSpPr>
          <p:cNvPr id="3" name="Marcador de contenido 2">
            <a:extLst>
              <a:ext uri="{FF2B5EF4-FFF2-40B4-BE49-F238E27FC236}">
                <a16:creationId xmlns:a16="http://schemas.microsoft.com/office/drawing/2014/main" id="{1ED7D85C-607F-CEC5-7A91-88492B038594}"/>
              </a:ext>
            </a:extLst>
          </p:cNvPr>
          <p:cNvSpPr>
            <a:spLocks noGrp="1"/>
          </p:cNvSpPr>
          <p:nvPr>
            <p:ph idx="1"/>
          </p:nvPr>
        </p:nvSpPr>
        <p:spPr>
          <a:xfrm>
            <a:off x="374299" y="1796457"/>
            <a:ext cx="7321901" cy="4099518"/>
          </a:xfrm>
        </p:spPr>
        <p:txBody>
          <a:bodyPr>
            <a:normAutofit fontScale="92500" lnSpcReduction="2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Manufacturas </a:t>
            </a:r>
            <a:r>
              <a:rPr lang="es-ES" dirty="0" err="1">
                <a:latin typeface="Calibri" panose="020F0502020204030204" pitchFamily="34" charset="0"/>
                <a:ea typeface="Calibri" panose="020F0502020204030204" pitchFamily="34" charset="0"/>
                <a:cs typeface="Calibri" panose="020F0502020204030204" pitchFamily="34" charset="0"/>
              </a:rPr>
              <a:t>Apex</a:t>
            </a:r>
            <a:r>
              <a:rPr lang="es-ES" dirty="0">
                <a:latin typeface="Calibri" panose="020F0502020204030204" pitchFamily="34" charset="0"/>
                <a:ea typeface="Calibri" panose="020F0502020204030204" pitchFamily="34" charset="0"/>
                <a:cs typeface="Calibri" panose="020F0502020204030204" pitchFamily="34" charset="0"/>
              </a:rPr>
              <a:t> es una fábrica tradicional que lleva operando más de 20 años con servidores físicos (hardware) ubicados en un cuarto de sistemas dentro de sus propias oficinas. Actualmente, la empresa maneja tres sistemas internos completamente aislados: un programa antiguo de contabilidad, una base de datos local para la nómina y asistencia de recursos humanos, y un sistema de control de inventario que solo funciona en las computadoras de la bodega central.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problema surge cuando la gerencia necesita tomar decisiones rápidas o requiere acceso remoto. Generar un informe directivo que cruce el costo de la nómina con el inventario despachado toma días de trabajo manual en Excel, y los directivos no pueden ver los datos si están de viaje. Por ello, la empresa ha decidido diseñar un proceso ETL que extraiga la información de estos tres servidores locales, la estandarice y la cargue en un almacén de datos centralizado en la nube, permitiendo que la información esté segura, unificada y disponible en tiempo real desde cualquier lugar del mundo.</a:t>
            </a:r>
          </a:p>
          <a:p>
            <a:pPr marL="36900" indent="0" algn="just">
              <a:buNone/>
            </a:pPr>
            <a:endParaRPr lang="es-ES"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icono del concepto de producción. fabricación. ilustración de línea delgada  de idea de sector industrial. fábrica. Ingeniería. dibujo de contorno  aislado vectorial 5191654 Vector en Vecteezy">
            <a:extLst>
              <a:ext uri="{FF2B5EF4-FFF2-40B4-BE49-F238E27FC236}">
                <a16:creationId xmlns:a16="http://schemas.microsoft.com/office/drawing/2014/main" id="{0813A447-D00F-4F98-6823-9CEBA5098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2424" y="2609850"/>
            <a:ext cx="3950051" cy="3950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00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8DBC-0A1A-D8A6-E8DA-D3CC6AD932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35B4D9-0823-FD45-21E3-DECF3CA93646}"/>
              </a:ext>
            </a:extLst>
          </p:cNvPr>
          <p:cNvSpPr>
            <a:spLocks noGrp="1"/>
          </p:cNvSpPr>
          <p:nvPr>
            <p:ph type="title"/>
          </p:nvPr>
        </p:nvSpPr>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¿Qué son los procesos ETL?</a:t>
            </a:r>
          </a:p>
        </p:txBody>
      </p:sp>
      <p:sp>
        <p:nvSpPr>
          <p:cNvPr id="3" name="Marcador de contenido 2">
            <a:extLst>
              <a:ext uri="{FF2B5EF4-FFF2-40B4-BE49-F238E27FC236}">
                <a16:creationId xmlns:a16="http://schemas.microsoft.com/office/drawing/2014/main" id="{2C037C35-1D98-EA4F-6906-34DD64E2B1C3}"/>
              </a:ext>
            </a:extLst>
          </p:cNvPr>
          <p:cNvSpPr>
            <a:spLocks noGrp="1"/>
          </p:cNvSpPr>
          <p:nvPr>
            <p:ph idx="1"/>
          </p:nvPr>
        </p:nvSpPr>
        <p:spPr>
          <a:xfrm>
            <a:off x="374299" y="1796457"/>
            <a:ext cx="11522426" cy="2697459"/>
          </a:xfrm>
        </p:spPr>
        <p:txBody>
          <a:bodyPr>
            <a:normAutofit fontScale="85000" lnSpcReduction="20000"/>
          </a:bodyPr>
          <a:lstStyle/>
          <a:p>
            <a:pPr marL="36900" indent="0">
              <a:buNone/>
            </a:pPr>
            <a:r>
              <a:rPr lang="es-ES" dirty="0">
                <a:latin typeface="Calibri" panose="020F0502020204030204" pitchFamily="34" charset="0"/>
                <a:ea typeface="Calibri" panose="020F0502020204030204" pitchFamily="34" charset="0"/>
                <a:cs typeface="Calibri" panose="020F0502020204030204" pitchFamily="34" charset="0"/>
              </a:rPr>
              <a:t>Imaginemos que usted compró tres cosas diferentes: unos zapatos en China, un libro en España y un reloj en su ciudad.</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Extracción (</a:t>
            </a:r>
            <a:r>
              <a:rPr lang="es-ES" b="1" dirty="0" err="1">
                <a:latin typeface="Calibri" panose="020F0502020204030204" pitchFamily="34" charset="0"/>
                <a:ea typeface="Calibri" panose="020F0502020204030204" pitchFamily="34" charset="0"/>
                <a:cs typeface="Calibri" panose="020F0502020204030204" pitchFamily="34" charset="0"/>
              </a:rPr>
              <a:t>Extract</a:t>
            </a:r>
            <a:r>
              <a:rPr lang="es-ES" b="1" dirty="0">
                <a:latin typeface="Calibri" panose="020F0502020204030204" pitchFamily="34" charset="0"/>
                <a:ea typeface="Calibri" panose="020F0502020204030204" pitchFamily="34" charset="0"/>
                <a:cs typeface="Calibri" panose="020F0502020204030204" pitchFamily="34" charset="0"/>
              </a:rPr>
              <a:t> - La Recogida):</a:t>
            </a:r>
            <a:r>
              <a:rPr lang="es-ES" dirty="0">
                <a:latin typeface="Calibri" panose="020F0502020204030204" pitchFamily="34" charset="0"/>
                <a:ea typeface="Calibri" panose="020F0502020204030204" pitchFamily="34" charset="0"/>
                <a:cs typeface="Calibri" panose="020F0502020204030204" pitchFamily="34" charset="0"/>
              </a:rPr>
              <a:t> El servicio de mensajería va a estas tres fábricas distintas a recoger sus compras. En este punto, el mensajero no cambia nada; solo recolecta una bolsa de plástico de China, una caja de cartón de España y un sobre local.</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Transformación (</a:t>
            </a:r>
            <a:r>
              <a:rPr lang="es-ES" b="1" dirty="0" err="1">
                <a:latin typeface="Calibri" panose="020F0502020204030204" pitchFamily="34" charset="0"/>
                <a:ea typeface="Calibri" panose="020F0502020204030204" pitchFamily="34" charset="0"/>
                <a:cs typeface="Calibri" panose="020F0502020204030204" pitchFamily="34" charset="0"/>
              </a:rPr>
              <a:t>Transform</a:t>
            </a:r>
            <a:r>
              <a:rPr lang="es-ES" b="1" dirty="0">
                <a:latin typeface="Calibri" panose="020F0502020204030204" pitchFamily="34" charset="0"/>
                <a:ea typeface="Calibri" panose="020F0502020204030204" pitchFamily="34" charset="0"/>
                <a:cs typeface="Calibri" panose="020F0502020204030204" pitchFamily="34" charset="0"/>
              </a:rPr>
              <a:t> - El Centro de Clasificación):</a:t>
            </a:r>
            <a:r>
              <a:rPr lang="es-ES" dirty="0">
                <a:latin typeface="Calibri" panose="020F0502020204030204" pitchFamily="34" charset="0"/>
                <a:ea typeface="Calibri" panose="020F0502020204030204" pitchFamily="34" charset="0"/>
                <a:cs typeface="Calibri" panose="020F0502020204030204" pitchFamily="34" charset="0"/>
              </a:rPr>
              <a:t> Todos estos paquetes llegan a un centro logístico principal, y aquí ocurre la magia. El equipo abre los paquetes, revisa que los productos no vengan rotos (control de calidad), traduce todas las etiquetas de envío a un solo idioma (estandarización) y mete los tres artículos juntos en una sola caja corporativa, limpia y segura.</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Carga (Load - La Entrega Final):</a:t>
            </a:r>
            <a:r>
              <a:rPr lang="es-ES" dirty="0">
                <a:latin typeface="Calibri" panose="020F0502020204030204" pitchFamily="34" charset="0"/>
                <a:ea typeface="Calibri" panose="020F0502020204030204" pitchFamily="34" charset="0"/>
                <a:cs typeface="Calibri" panose="020F0502020204030204" pitchFamily="34" charset="0"/>
              </a:rPr>
              <a:t> Esa única caja, perfectamente sellada y con la etiqueta correcta, es transportada y entregada en la puerta de su casa, lista para que usted la abra y use sus productos inmediatamente.</a:t>
            </a:r>
          </a:p>
        </p:txBody>
      </p:sp>
      <p:pic>
        <p:nvPicPr>
          <p:cNvPr id="3076" name="Picture 4" descr="ETL: Extraer, Transformar y Cargar - Jarroba">
            <a:extLst>
              <a:ext uri="{FF2B5EF4-FFF2-40B4-BE49-F238E27FC236}">
                <a16:creationId xmlns:a16="http://schemas.microsoft.com/office/drawing/2014/main" id="{098F152B-50FC-674D-26CE-D7A4F57FE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982" y="4493916"/>
            <a:ext cx="4914055" cy="2154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841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60B3F-556A-D110-0738-C3A437921C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78E127-76B2-F007-D4AF-F4E90901431D}"/>
              </a:ext>
            </a:extLst>
          </p:cNvPr>
          <p:cNvSpPr>
            <a:spLocks noGrp="1"/>
          </p:cNvSpPr>
          <p:nvPr>
            <p:ph type="title"/>
          </p:nvPr>
        </p:nvSpPr>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¿Por qué se inventaron los procesos ETL?</a:t>
            </a:r>
          </a:p>
        </p:txBody>
      </p:sp>
      <p:sp>
        <p:nvSpPr>
          <p:cNvPr id="3" name="Marcador de contenido 2">
            <a:extLst>
              <a:ext uri="{FF2B5EF4-FFF2-40B4-BE49-F238E27FC236}">
                <a16:creationId xmlns:a16="http://schemas.microsoft.com/office/drawing/2014/main" id="{BA6B573E-54F2-5E47-745E-E52A97E5BAB4}"/>
              </a:ext>
            </a:extLst>
          </p:cNvPr>
          <p:cNvSpPr>
            <a:spLocks noGrp="1"/>
          </p:cNvSpPr>
          <p:nvPr>
            <p:ph idx="1"/>
          </p:nvPr>
        </p:nvSpPr>
        <p:spPr>
          <a:xfrm>
            <a:off x="374299" y="1796457"/>
            <a:ext cx="7321901" cy="4099518"/>
          </a:xfrm>
        </p:spPr>
        <p:txBody>
          <a:bodyPr>
            <a:normAutofit fontScale="92500" lnSpcReduction="20000"/>
          </a:bodyPr>
          <a:lstStyle/>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La informatización de los años 70 y 80: Cuando las grandes empresas comenzaron a usar computadoras, lo hicieron por partes. Compraron un sistema cerrado para el departamento de ventas, otro distinto para contabilidad y otro diferente para recursos humanos.</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La "Ceguera Gerencial": A principios de los años 90, los directivos se toparon con un muro. Si querían saber si un empleado de ventas era realmente rentable, tenían que revisar manualmente el sistema de ventas (cuánto vendió) y luego ir al de recursos humanos (cuánto cobró de comisión). Las máquinas no se hablaban entre sí.</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El nacimiento de la integración: Las empresas decidieron construir grandes "Bodegas Centrales de Datos" (Data </a:t>
            </a:r>
            <a:r>
              <a:rPr lang="es-ES" dirty="0" err="1">
                <a:latin typeface="Calibri" panose="020F0502020204030204" pitchFamily="34" charset="0"/>
                <a:ea typeface="Calibri" panose="020F0502020204030204" pitchFamily="34" charset="0"/>
                <a:cs typeface="Calibri" panose="020F0502020204030204" pitchFamily="34" charset="0"/>
              </a:rPr>
              <a:t>Warehouses</a:t>
            </a:r>
            <a:r>
              <a:rPr lang="es-ES" dirty="0">
                <a:latin typeface="Calibri" panose="020F0502020204030204" pitchFamily="34" charset="0"/>
                <a:ea typeface="Calibri" panose="020F0502020204030204" pitchFamily="34" charset="0"/>
                <a:cs typeface="Calibri" panose="020F0502020204030204" pitchFamily="34" charset="0"/>
              </a:rPr>
              <a:t>) para cruzar toda la información. Sin embargo, necesitaban un software traductor que pudiera ir a los sistemas antiguos, sacar los datos, traducirlos a un idioma común y guardarlos en la nueva bodega. Así es como nació formalmente la disciplina y la tecnología del ETL.</a:t>
            </a:r>
          </a:p>
        </p:txBody>
      </p:sp>
      <p:pic>
        <p:nvPicPr>
          <p:cNvPr id="4" name="Picture 2" descr="Etl - Iconos gratis de redes">
            <a:extLst>
              <a:ext uri="{FF2B5EF4-FFF2-40B4-BE49-F238E27FC236}">
                <a16:creationId xmlns:a16="http://schemas.microsoft.com/office/drawing/2014/main" id="{351C17ED-6FAC-C9CA-A832-6EAFA65E6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4324" y="2682387"/>
            <a:ext cx="4010025"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1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185F-7292-E3A9-34F6-BC5117B739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D0782F-DB77-8EAD-6EE1-5933F54F2A22}"/>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El Viaje de los datos</a:t>
            </a:r>
          </a:p>
        </p:txBody>
      </p:sp>
      <p:sp>
        <p:nvSpPr>
          <p:cNvPr id="3" name="Marcador de contenido 2">
            <a:extLst>
              <a:ext uri="{FF2B5EF4-FFF2-40B4-BE49-F238E27FC236}">
                <a16:creationId xmlns:a16="http://schemas.microsoft.com/office/drawing/2014/main" id="{CA291BDB-7A06-6987-F21B-2F6559C22D3E}"/>
              </a:ext>
            </a:extLst>
          </p:cNvPr>
          <p:cNvSpPr>
            <a:spLocks noGrp="1"/>
          </p:cNvSpPr>
          <p:nvPr>
            <p:ph idx="1"/>
          </p:nvPr>
        </p:nvSpPr>
        <p:spPr>
          <a:xfrm>
            <a:off x="267239" y="1508421"/>
            <a:ext cx="6919946" cy="4099518"/>
          </a:xfrm>
        </p:spPr>
        <p:txBody>
          <a:bodyPr>
            <a:normAutofit fontScale="85000" lnSpcReduction="20000"/>
          </a:bodyPr>
          <a:lstStyle/>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Sources</a:t>
            </a:r>
            <a:r>
              <a:rPr lang="es-ES" dirty="0">
                <a:latin typeface="Calibri" panose="020F0502020204030204" pitchFamily="34" charset="0"/>
                <a:ea typeface="Calibri" panose="020F0502020204030204" pitchFamily="34" charset="0"/>
                <a:cs typeface="Calibri" panose="020F0502020204030204" pitchFamily="34" charset="0"/>
              </a:rPr>
              <a:t>: Son todos los sistemas operativos donde nace la información: la página web, el viejo sistema de nóminas, el CRM o las cajas registradoras. Aquí, la información está dispersa y en múltiples formatos.</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Lake: En esta etapa, volcamos absolutamente todos los datos crudos, tal cual llegan de las fuentes, sin importar si son tablas ordenadas o textos desestructurados.</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Warehouse</a:t>
            </a:r>
            <a:r>
              <a:rPr lang="es-ES" dirty="0">
                <a:latin typeface="Calibri" panose="020F0502020204030204" pitchFamily="34" charset="0"/>
                <a:ea typeface="Calibri" panose="020F0502020204030204" pitchFamily="34" charset="0"/>
                <a:cs typeface="Calibri" panose="020F0502020204030204" pitchFamily="34" charset="0"/>
              </a:rPr>
              <a:t>: A través de nuestro proceso ETL (Extracción, Transformación y Carga), tomamos los datos, los limpiamos, los estandarizamos y los organizamos en bases de datos relacionales. Aquí es donde reside la "Única Fuente de la Verdad" corporativa, auditable y segura.</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Marts</a:t>
            </a:r>
            <a:r>
              <a:rPr lang="es-ES" dirty="0">
                <a:latin typeface="Calibri" panose="020F0502020204030204" pitchFamily="34" charset="0"/>
                <a:ea typeface="Calibri" panose="020F0502020204030204" pitchFamily="34" charset="0"/>
                <a:cs typeface="Calibri" panose="020F0502020204030204" pitchFamily="34" charset="0"/>
              </a:rPr>
              <a:t>: Dado que el departamento de Marketing no necesita (ni debe) ver los costos operativos de Recursos Humanos, se crea un "Data </a:t>
            </a:r>
            <a:r>
              <a:rPr lang="es-ES" dirty="0" err="1">
                <a:latin typeface="Calibri" panose="020F0502020204030204" pitchFamily="34" charset="0"/>
                <a:ea typeface="Calibri" panose="020F0502020204030204" pitchFamily="34" charset="0"/>
                <a:cs typeface="Calibri" panose="020F0502020204030204" pitchFamily="34" charset="0"/>
              </a:rPr>
              <a:t>Mart</a:t>
            </a:r>
            <a:r>
              <a:rPr lang="es-ES" dirty="0">
                <a:latin typeface="Calibri" panose="020F0502020204030204" pitchFamily="34" charset="0"/>
                <a:ea typeface="Calibri" panose="020F0502020204030204" pitchFamily="34" charset="0"/>
                <a:cs typeface="Calibri" panose="020F0502020204030204" pitchFamily="34" charset="0"/>
              </a:rPr>
              <a:t>". Es una porción pequeña y especializada del Data </a:t>
            </a:r>
            <a:r>
              <a:rPr lang="es-ES" dirty="0" err="1">
                <a:latin typeface="Calibri" panose="020F0502020204030204" pitchFamily="34" charset="0"/>
                <a:ea typeface="Calibri" panose="020F0502020204030204" pitchFamily="34" charset="0"/>
                <a:cs typeface="Calibri" panose="020F0502020204030204" pitchFamily="34" charset="0"/>
              </a:rPr>
              <a:t>Warehouse</a:t>
            </a:r>
            <a:r>
              <a:rPr lang="es-ES" dirty="0">
                <a:latin typeface="Calibri" panose="020F0502020204030204" pitchFamily="34" charset="0"/>
                <a:ea typeface="Calibri" panose="020F0502020204030204" pitchFamily="34" charset="0"/>
                <a:cs typeface="Calibri" panose="020F0502020204030204" pitchFamily="34" charset="0"/>
              </a:rPr>
              <a:t>, filtrada y diseñada exclusivamente para responder rápido a las preguntas de un departamento en particular.</a:t>
            </a:r>
          </a:p>
        </p:txBody>
      </p:sp>
      <p:pic>
        <p:nvPicPr>
          <p:cNvPr id="4098" name="Picture 2" descr="Data Mart vs. Data Lake: Making the Best Choice | Airbyte">
            <a:extLst>
              <a:ext uri="{FF2B5EF4-FFF2-40B4-BE49-F238E27FC236}">
                <a16:creationId xmlns:a16="http://schemas.microsoft.com/office/drawing/2014/main" id="{BBF1ADD1-123F-5277-70B3-05FFF1E53E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2882" y="3703320"/>
            <a:ext cx="4658622" cy="262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84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9922-AC46-66D6-4289-0B8E8633D2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19FD79-7F76-00C5-061A-0DE15F453DD7}"/>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Extracción</a:t>
            </a:r>
          </a:p>
        </p:txBody>
      </p:sp>
      <p:sp>
        <p:nvSpPr>
          <p:cNvPr id="3" name="Marcador de contenido 2">
            <a:extLst>
              <a:ext uri="{FF2B5EF4-FFF2-40B4-BE49-F238E27FC236}">
                <a16:creationId xmlns:a16="http://schemas.microsoft.com/office/drawing/2014/main" id="{3C923A8E-8238-9685-06A6-7F2695D73010}"/>
              </a:ext>
            </a:extLst>
          </p:cNvPr>
          <p:cNvSpPr>
            <a:spLocks noGrp="1"/>
          </p:cNvSpPr>
          <p:nvPr>
            <p:ph idx="1"/>
          </p:nvPr>
        </p:nvSpPr>
        <p:spPr>
          <a:xfrm>
            <a:off x="267239" y="1508421"/>
            <a:ext cx="6919946"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reto aquí es recolectar la información sin bloquear la operación diaria del negocio.</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Al conectar el sistema a una base de datos en producción, se debe asegurar que los clientes puedan seguir comprando sin lentitud.</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Para no saturar la red, la estrategia más utilizada es la Extracción Incremental en lugar de descargar todo el historial diario, el sistema identifica y extrae únicamente los registros que son nuevos o que sufrieron modificaciones desde el día anterior.</a:t>
            </a:r>
          </a:p>
        </p:txBody>
      </p:sp>
      <p:pic>
        <p:nvPicPr>
          <p:cNvPr id="7" name="Imagen 6">
            <a:extLst>
              <a:ext uri="{FF2B5EF4-FFF2-40B4-BE49-F238E27FC236}">
                <a16:creationId xmlns:a16="http://schemas.microsoft.com/office/drawing/2014/main" id="{B3D1854A-12CD-7236-B969-C922540FE189}"/>
              </a:ext>
            </a:extLst>
          </p:cNvPr>
          <p:cNvPicPr>
            <a:picLocks noChangeAspect="1"/>
          </p:cNvPicPr>
          <p:nvPr/>
        </p:nvPicPr>
        <p:blipFill>
          <a:blip r:embed="rId2"/>
          <a:stretch>
            <a:fillRect/>
          </a:stretch>
        </p:blipFill>
        <p:spPr>
          <a:xfrm>
            <a:off x="8138505" y="3332048"/>
            <a:ext cx="3248478" cy="2553056"/>
          </a:xfrm>
          <a:prstGeom prst="rect">
            <a:avLst/>
          </a:prstGeom>
        </p:spPr>
      </p:pic>
    </p:spTree>
    <p:extLst>
      <p:ext uri="{BB962C8B-B14F-4D97-AF65-F5344CB8AC3E}">
        <p14:creationId xmlns:p14="http://schemas.microsoft.com/office/powerpoint/2010/main" val="4236572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6F33B-24E9-3656-56CB-C8E0072788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E4EA12-F43B-B5AE-3A31-792E1CACDA1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Transformación</a:t>
            </a:r>
          </a:p>
        </p:txBody>
      </p:sp>
      <p:sp>
        <p:nvSpPr>
          <p:cNvPr id="3" name="Marcador de contenido 2">
            <a:extLst>
              <a:ext uri="{FF2B5EF4-FFF2-40B4-BE49-F238E27FC236}">
                <a16:creationId xmlns:a16="http://schemas.microsoft.com/office/drawing/2014/main" id="{077A5063-A1C8-4A63-2094-C861D8D92D89}"/>
              </a:ext>
            </a:extLst>
          </p:cNvPr>
          <p:cNvSpPr>
            <a:spLocks noGrp="1"/>
          </p:cNvSpPr>
          <p:nvPr>
            <p:ph idx="1"/>
          </p:nvPr>
        </p:nvSpPr>
        <p:spPr>
          <a:xfrm>
            <a:off x="267239" y="1508421"/>
            <a:ext cx="7496018"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Esta es la fase computacionalmente más pesada, donde los datos se procesan en la memoria del servidor para aplicar reglas estrictas.</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Limpieza y Estandarización: </a:t>
            </a:r>
            <a:r>
              <a:rPr lang="es-ES" dirty="0">
                <a:latin typeface="Calibri" panose="020F0502020204030204" pitchFamily="34" charset="0"/>
                <a:ea typeface="Calibri" panose="020F0502020204030204" pitchFamily="34" charset="0"/>
                <a:cs typeface="Calibri" panose="020F0502020204030204" pitchFamily="34" charset="0"/>
              </a:rPr>
              <a:t>Se unifican formatos (ej. fechas y monedas) y se toma la decisión de qué hacer con los datos vacíos o nulos (eliminarlos del reporte o rellenarlos con un valor por defecto).</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Enriquecimiento: </a:t>
            </a:r>
            <a:r>
              <a:rPr lang="es-ES" dirty="0">
                <a:latin typeface="Calibri" panose="020F0502020204030204" pitchFamily="34" charset="0"/>
                <a:ea typeface="Calibri" panose="020F0502020204030204" pitchFamily="34" charset="0"/>
                <a:cs typeface="Calibri" panose="020F0502020204030204" pitchFamily="34" charset="0"/>
              </a:rPr>
              <a:t>Se cruzan datos de múltiples fuentes (ej. unir la tabla de ventas con la de costos) para crear una visión completa antes de guardarlos.</a:t>
            </a:r>
          </a:p>
        </p:txBody>
      </p:sp>
      <p:pic>
        <p:nvPicPr>
          <p:cNvPr id="11" name="Imagen 10">
            <a:extLst>
              <a:ext uri="{FF2B5EF4-FFF2-40B4-BE49-F238E27FC236}">
                <a16:creationId xmlns:a16="http://schemas.microsoft.com/office/drawing/2014/main" id="{757CFF59-DC82-B720-F1E8-1907475979E8}"/>
              </a:ext>
            </a:extLst>
          </p:cNvPr>
          <p:cNvPicPr>
            <a:picLocks noChangeAspect="1"/>
          </p:cNvPicPr>
          <p:nvPr/>
        </p:nvPicPr>
        <p:blipFill>
          <a:blip r:embed="rId2"/>
          <a:stretch>
            <a:fillRect/>
          </a:stretch>
        </p:blipFill>
        <p:spPr>
          <a:xfrm>
            <a:off x="8720024" y="2404895"/>
            <a:ext cx="2405176" cy="3530406"/>
          </a:xfrm>
          <a:prstGeom prst="rect">
            <a:avLst/>
          </a:prstGeom>
        </p:spPr>
      </p:pic>
    </p:spTree>
    <p:extLst>
      <p:ext uri="{BB962C8B-B14F-4D97-AF65-F5344CB8AC3E}">
        <p14:creationId xmlns:p14="http://schemas.microsoft.com/office/powerpoint/2010/main" val="2520004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C93DC-148E-3EBC-88E6-8D1E75E4D6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EEFFEF-445D-DD5C-C055-DFAEAAAC6DB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Carga</a:t>
            </a:r>
          </a:p>
        </p:txBody>
      </p:sp>
      <p:sp>
        <p:nvSpPr>
          <p:cNvPr id="3" name="Marcador de contenido 2">
            <a:extLst>
              <a:ext uri="{FF2B5EF4-FFF2-40B4-BE49-F238E27FC236}">
                <a16:creationId xmlns:a16="http://schemas.microsoft.com/office/drawing/2014/main" id="{4888C26E-BF79-A846-20FF-049792BBC7A1}"/>
              </a:ext>
            </a:extLst>
          </p:cNvPr>
          <p:cNvSpPr>
            <a:spLocks noGrp="1"/>
          </p:cNvSpPr>
          <p:nvPr>
            <p:ph idx="1"/>
          </p:nvPr>
        </p:nvSpPr>
        <p:spPr>
          <a:xfrm>
            <a:off x="267238" y="1508421"/>
            <a:ext cx="7532593"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objetivo final es depositar los datos limpios en el almacén central garantizando que la información llegue íntegra. Para lograrlo, se definen dos aspectos clave:</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La Estrategia de Inyección: </a:t>
            </a:r>
            <a:r>
              <a:rPr lang="es-ES" dirty="0">
                <a:latin typeface="Calibri" panose="020F0502020204030204" pitchFamily="34" charset="0"/>
                <a:ea typeface="Calibri" panose="020F0502020204030204" pitchFamily="34" charset="0"/>
                <a:cs typeface="Calibri" panose="020F0502020204030204" pitchFamily="34" charset="0"/>
              </a:rPr>
              <a:t>Se prioriza la Carga Incremental (</a:t>
            </a:r>
            <a:r>
              <a:rPr lang="es-ES" dirty="0" err="1">
                <a:latin typeface="Calibri" panose="020F0502020204030204" pitchFamily="34" charset="0"/>
                <a:ea typeface="Calibri" panose="020F0502020204030204" pitchFamily="34" charset="0"/>
                <a:cs typeface="Calibri" panose="020F0502020204030204" pitchFamily="34" charset="0"/>
              </a:rPr>
              <a:t>Upsert</a:t>
            </a:r>
            <a:r>
              <a:rPr lang="es-ES" dirty="0">
                <a:latin typeface="Calibri" panose="020F0502020204030204" pitchFamily="34" charset="0"/>
                <a:ea typeface="Calibri" panose="020F0502020204030204" pitchFamily="34" charset="0"/>
                <a:cs typeface="Calibri" panose="020F0502020204030204" pitchFamily="34" charset="0"/>
              </a:rPr>
              <a:t>). El motor evalúa cada registro: si el dato ya existe, simplemente lo actualiza; si es nuevo, lo agrega.</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Integridad Transaccional: </a:t>
            </a:r>
            <a:r>
              <a:rPr lang="es-ES" dirty="0">
                <a:latin typeface="Calibri" panose="020F0502020204030204" pitchFamily="34" charset="0"/>
                <a:ea typeface="Calibri" panose="020F0502020204030204" pitchFamily="34" charset="0"/>
                <a:cs typeface="Calibri" panose="020F0502020204030204" pitchFamily="34" charset="0"/>
              </a:rPr>
              <a:t>Los datos nunca se cargan uno por uno, sino en bloques seguros. Si el sistema intenta cargar 10,000 ventas y ocurre un fallo de conexión en el registro 9,999, la operación se cancela y se deshace automáticamente. Esto garantiza que jamás se tomen decisiones basadas en bases de datos rotas o incompletas a la mitad.</a:t>
            </a:r>
          </a:p>
        </p:txBody>
      </p:sp>
      <p:pic>
        <p:nvPicPr>
          <p:cNvPr id="5" name="Imagen 4">
            <a:extLst>
              <a:ext uri="{FF2B5EF4-FFF2-40B4-BE49-F238E27FC236}">
                <a16:creationId xmlns:a16="http://schemas.microsoft.com/office/drawing/2014/main" id="{A6628704-05F9-D39B-18B5-365B7101C3CC}"/>
              </a:ext>
            </a:extLst>
          </p:cNvPr>
          <p:cNvPicPr>
            <a:picLocks noChangeAspect="1"/>
          </p:cNvPicPr>
          <p:nvPr/>
        </p:nvPicPr>
        <p:blipFill>
          <a:blip r:embed="rId2"/>
          <a:stretch>
            <a:fillRect/>
          </a:stretch>
        </p:blipFill>
        <p:spPr>
          <a:xfrm>
            <a:off x="8505688" y="2728745"/>
            <a:ext cx="3019562" cy="3679175"/>
          </a:xfrm>
          <a:prstGeom prst="rect">
            <a:avLst/>
          </a:prstGeom>
        </p:spPr>
      </p:pic>
    </p:spTree>
    <p:extLst>
      <p:ext uri="{BB962C8B-B14F-4D97-AF65-F5344CB8AC3E}">
        <p14:creationId xmlns:p14="http://schemas.microsoft.com/office/powerpoint/2010/main" val="1018827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33C10-66A4-EF0C-53BC-F27F8A3BF1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258789-F889-12B8-7C4C-8674EF466B6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Riesgos</a:t>
            </a:r>
          </a:p>
        </p:txBody>
      </p:sp>
      <p:sp>
        <p:nvSpPr>
          <p:cNvPr id="3" name="Marcador de contenido 2">
            <a:extLst>
              <a:ext uri="{FF2B5EF4-FFF2-40B4-BE49-F238E27FC236}">
                <a16:creationId xmlns:a16="http://schemas.microsoft.com/office/drawing/2014/main" id="{8F3F3072-3D62-064E-8315-D3205196AEBF}"/>
              </a:ext>
            </a:extLst>
          </p:cNvPr>
          <p:cNvSpPr>
            <a:spLocks noGrp="1"/>
          </p:cNvSpPr>
          <p:nvPr>
            <p:ph idx="1"/>
          </p:nvPr>
        </p:nvSpPr>
        <p:spPr>
          <a:xfrm>
            <a:off x="267239" y="1508421"/>
            <a:ext cx="6993098" cy="4099518"/>
          </a:xfrm>
        </p:spPr>
        <p:txBody>
          <a:bodyPr>
            <a:normAutofit fontScale="85000" lnSpcReduction="1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Corrupción de Datos: </a:t>
            </a:r>
            <a:r>
              <a:rPr lang="es-ES" dirty="0">
                <a:latin typeface="Calibri" panose="020F0502020204030204" pitchFamily="34" charset="0"/>
                <a:ea typeface="Calibri" panose="020F0502020204030204" pitchFamily="34" charset="0"/>
                <a:cs typeface="Calibri" panose="020F0502020204030204" pitchFamily="34" charset="0"/>
              </a:rPr>
              <a:t>Inyectar información inconsistente, nula o duplicada que destruye de inmediato la confiabilidad de los reportes gerenciales.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Pérdida de Información: </a:t>
            </a:r>
            <a:r>
              <a:rPr lang="es-ES" dirty="0">
                <a:latin typeface="Calibri" panose="020F0502020204030204" pitchFamily="34" charset="0"/>
                <a:ea typeface="Calibri" panose="020F0502020204030204" pitchFamily="34" charset="0"/>
                <a:cs typeface="Calibri" panose="020F0502020204030204" pitchFamily="34" charset="0"/>
              </a:rPr>
              <a:t>Omitir, filtrar incorrectamente o borrar de forma accidental registros clave debido a reglas de transformación mal diseñadas.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Sobrecarga del Sistema (Cuellos de Botella): </a:t>
            </a:r>
            <a:r>
              <a:rPr lang="es-ES" dirty="0">
                <a:latin typeface="Calibri" panose="020F0502020204030204" pitchFamily="34" charset="0"/>
                <a:ea typeface="Calibri" panose="020F0502020204030204" pitchFamily="34" charset="0"/>
                <a:cs typeface="Calibri" panose="020F0502020204030204" pitchFamily="34" charset="0"/>
              </a:rPr>
              <a:t>Ejecutar extracciones masivas desde los sistemas de origen en horarios comerciales, paralizando la operación en vivo de la empresa.</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Retrasos en el Procesamiento (Latencia): </a:t>
            </a:r>
            <a:r>
              <a:rPr lang="es-ES" dirty="0">
                <a:latin typeface="Calibri" panose="020F0502020204030204" pitchFamily="34" charset="0"/>
                <a:ea typeface="Calibri" panose="020F0502020204030204" pitchFamily="34" charset="0"/>
                <a:cs typeface="Calibri" panose="020F0502020204030204" pitchFamily="34" charset="0"/>
              </a:rPr>
              <a:t>Tiempos de ejecución ineficientes que provocan que la información no esté lista ni actualizada para el inicio de la jornada laboral.</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Brechas de Privacidad: </a:t>
            </a:r>
            <a:r>
              <a:rPr lang="es-ES" dirty="0">
                <a:latin typeface="Calibri" panose="020F0502020204030204" pitchFamily="34" charset="0"/>
                <a:ea typeface="Calibri" panose="020F0502020204030204" pitchFamily="34" charset="0"/>
                <a:cs typeface="Calibri" panose="020F0502020204030204" pitchFamily="34" charset="0"/>
              </a:rPr>
              <a:t>Centralizar datos confidenciales o personales (como identificaciones o finanzas) sin aplicar políticas previas de </a:t>
            </a:r>
            <a:r>
              <a:rPr lang="es-ES" dirty="0" err="1">
                <a:latin typeface="Calibri" panose="020F0502020204030204" pitchFamily="34" charset="0"/>
                <a:ea typeface="Calibri" panose="020F0502020204030204" pitchFamily="34" charset="0"/>
                <a:cs typeface="Calibri" panose="020F0502020204030204" pitchFamily="34" charset="0"/>
              </a:rPr>
              <a:t>anonimización</a:t>
            </a:r>
            <a:r>
              <a:rPr lang="es-ES" dirty="0">
                <a:latin typeface="Calibri" panose="020F0502020204030204" pitchFamily="34" charset="0"/>
                <a:ea typeface="Calibri" panose="020F0502020204030204" pitchFamily="34" charset="0"/>
                <a:cs typeface="Calibri" panose="020F0502020204030204" pitchFamily="34" charset="0"/>
              </a:rPr>
              <a:t> o enmascaramiento.</a:t>
            </a:r>
          </a:p>
        </p:txBody>
      </p:sp>
      <p:pic>
        <p:nvPicPr>
          <p:cNvPr id="8194" name="Picture 2" descr="Peligro y Riesgo. Haz en 3 pasos una evaluación efectiva | Aicad">
            <a:extLst>
              <a:ext uri="{FF2B5EF4-FFF2-40B4-BE49-F238E27FC236}">
                <a16:creationId xmlns:a16="http://schemas.microsoft.com/office/drawing/2014/main" id="{7779731D-7943-EC44-A38E-88DA90F9D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6685" y="3713809"/>
            <a:ext cx="4036240" cy="2354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452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4BAF-12D4-5310-434F-32F7D8DE11DD}"/>
            </a:ext>
          </a:extLst>
        </p:cNvPr>
        <p:cNvGrpSpPr/>
        <p:nvPr/>
      </p:nvGrpSpPr>
      <p:grpSpPr>
        <a:xfrm>
          <a:off x="0" y="0"/>
          <a:ext cx="0" cy="0"/>
          <a:chOff x="0" y="0"/>
          <a:chExt cx="0" cy="0"/>
        </a:xfrm>
      </p:grpSpPr>
      <p:pic>
        <p:nvPicPr>
          <p:cNvPr id="5" name="Picture 2" descr="Gradient data governance concept thin line icon, isolated vector  representing data democratization. 28337487 Vector Art at Vecteezy">
            <a:extLst>
              <a:ext uri="{FF2B5EF4-FFF2-40B4-BE49-F238E27FC236}">
                <a16:creationId xmlns:a16="http://schemas.microsoft.com/office/drawing/2014/main" id="{303A4335-004E-7365-93BE-597B866A9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31" y="5196628"/>
            <a:ext cx="1612392" cy="161239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9D65543-E3BC-D5B6-5E30-6A8F7D6F5A5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Gobierno de datos</a:t>
            </a:r>
          </a:p>
        </p:txBody>
      </p:sp>
      <p:sp>
        <p:nvSpPr>
          <p:cNvPr id="3" name="Marcador de contenido 2">
            <a:extLst>
              <a:ext uri="{FF2B5EF4-FFF2-40B4-BE49-F238E27FC236}">
                <a16:creationId xmlns:a16="http://schemas.microsoft.com/office/drawing/2014/main" id="{9EBE1214-F7EC-E7FD-03BE-A922D90A92E3}"/>
              </a:ext>
            </a:extLst>
          </p:cNvPr>
          <p:cNvSpPr>
            <a:spLocks noGrp="1"/>
          </p:cNvSpPr>
          <p:nvPr>
            <p:ph idx="1"/>
          </p:nvPr>
        </p:nvSpPr>
        <p:spPr>
          <a:xfrm>
            <a:off x="267239" y="1197525"/>
            <a:ext cx="5420329" cy="4099518"/>
          </a:xfrm>
        </p:spPr>
        <p:txBody>
          <a:bodyPr>
            <a:normAutofit fontScale="85000" lnSpcReduction="2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Riesgo: Corrupción de Datos </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Pilar de Gobierno: Calidad de Datos (Data </a:t>
            </a:r>
            <a:r>
              <a:rPr lang="es-ES" b="1" dirty="0" err="1">
                <a:latin typeface="Calibri" panose="020F0502020204030204" pitchFamily="34" charset="0"/>
                <a:ea typeface="Calibri" panose="020F0502020204030204" pitchFamily="34" charset="0"/>
                <a:cs typeface="Calibri" panose="020F0502020204030204" pitchFamily="34" charset="0"/>
              </a:rPr>
              <a:t>Quality</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None/>
            </a:pPr>
            <a:r>
              <a:rPr lang="es-ES" dirty="0">
                <a:latin typeface="Calibri" panose="020F0502020204030204" pitchFamily="34" charset="0"/>
                <a:ea typeface="Calibri" panose="020F0502020204030204" pitchFamily="34" charset="0"/>
                <a:cs typeface="Calibri" panose="020F0502020204030204" pitchFamily="34" charset="0"/>
              </a:rPr>
              <a:t>El Gobierno de Datos define las "reglas de negocio" formales (ej. Un cliente no puede tener una edad negativa o Todo producto debe tener categoría). El sistema ETL toma este manual de políticas y lo convierte en filtros matemáticos durante la fase de transformación, bloqueando cualquier registro que viole la norma antes de que contamine los reportes.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Riesgo: Brechas de Privacidad </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Pilar de Gobierno: Clasificación y Seguridad </a:t>
            </a:r>
          </a:p>
          <a:p>
            <a:pPr marL="414000" lvl="1" indent="0" algn="just">
              <a:buNone/>
            </a:pPr>
            <a:r>
              <a:rPr lang="es-ES" dirty="0">
                <a:latin typeface="Calibri" panose="020F0502020204030204" pitchFamily="34" charset="0"/>
                <a:ea typeface="Calibri" panose="020F0502020204030204" pitchFamily="34" charset="0"/>
                <a:cs typeface="Calibri" panose="020F0502020204030204" pitchFamily="34" charset="0"/>
              </a:rPr>
              <a:t>El gobierno realiza un inventario y clasifica qué información es pública, interna o confidencial (PII - Personal </a:t>
            </a:r>
            <a:r>
              <a:rPr lang="es-ES" dirty="0" err="1">
                <a:latin typeface="Calibri" panose="020F0502020204030204" pitchFamily="34" charset="0"/>
                <a:ea typeface="Calibri" panose="020F0502020204030204" pitchFamily="34" charset="0"/>
                <a:cs typeface="Calibri" panose="020F0502020204030204" pitchFamily="34" charset="0"/>
              </a:rPr>
              <a:t>Identifiable</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Information</a:t>
            </a:r>
            <a:r>
              <a:rPr lang="es-ES" dirty="0">
                <a:latin typeface="Calibri" panose="020F0502020204030204" pitchFamily="34" charset="0"/>
                <a:ea typeface="Calibri" panose="020F0502020204030204" pitchFamily="34" charset="0"/>
                <a:cs typeface="Calibri" panose="020F0502020204030204" pitchFamily="34" charset="0"/>
              </a:rPr>
              <a:t>). Basado en este mandato legal, el diseño del sistema aplica técnicas de enmascaramiento de forma obligatoria durante la carga para proteger las identidades.</a:t>
            </a:r>
          </a:p>
        </p:txBody>
      </p:sp>
      <p:sp>
        <p:nvSpPr>
          <p:cNvPr id="4" name="Marcador de contenido 2">
            <a:extLst>
              <a:ext uri="{FF2B5EF4-FFF2-40B4-BE49-F238E27FC236}">
                <a16:creationId xmlns:a16="http://schemas.microsoft.com/office/drawing/2014/main" id="{58A18535-9E4E-AF93-C757-206F08A67693}"/>
              </a:ext>
            </a:extLst>
          </p:cNvPr>
          <p:cNvSpPr txBox="1">
            <a:spLocks/>
          </p:cNvSpPr>
          <p:nvPr/>
        </p:nvSpPr>
        <p:spPr>
          <a:xfrm>
            <a:off x="5852552" y="1197525"/>
            <a:ext cx="5420329" cy="4099518"/>
          </a:xfrm>
          <a:prstGeom prst="rect">
            <a:avLst/>
          </a:prstGeom>
          <a:effectLst>
            <a:outerShdw blurRad="25400" dir="17880000">
              <a:srgbClr val="000000">
                <a:alpha val="46000"/>
              </a:srgbClr>
            </a:outerShdw>
          </a:effectLst>
        </p:spPr>
        <p:txBody>
          <a:bodyPr vert="horz" lIns="91440" tIns="45720" rIns="91440" bIns="45720" rtlCol="0" anchor="t">
            <a:normAutofit fontScale="85000"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Riesgo: Sobrecarga y Retrasos </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Pilar de Gobierno: Acuerdos de Nivel de Servicio (</a:t>
            </a:r>
            <a:r>
              <a:rPr lang="es-ES" b="1" dirty="0" err="1">
                <a:latin typeface="Calibri" panose="020F0502020204030204" pitchFamily="34" charset="0"/>
                <a:ea typeface="Calibri" panose="020F0502020204030204" pitchFamily="34" charset="0"/>
                <a:cs typeface="Calibri" panose="020F0502020204030204" pitchFamily="34" charset="0"/>
              </a:rPr>
              <a:t>SLAs</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Font typeface="Wingdings 2" charset="2"/>
              <a:buNone/>
            </a:pPr>
            <a:r>
              <a:rPr lang="es-ES" dirty="0">
                <a:latin typeface="Calibri" panose="020F0502020204030204" pitchFamily="34" charset="0"/>
                <a:ea typeface="Calibri" panose="020F0502020204030204" pitchFamily="34" charset="0"/>
                <a:cs typeface="Calibri" panose="020F0502020204030204" pitchFamily="34" charset="0"/>
              </a:rPr>
              <a:t>Las políticas de gobierno dictaminan los horarios permitidos para extraer información sin afectar las ventas y definen a qué hora máxima deben estar listos los reportes para la junta directiva. El sistema se orquesta y automatiza para cumplir estrictamente con estos contratos de tiempo.</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Riesgo: Pérdida de Información </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Pilar de Gobierno: Linaje de Datos (Data </a:t>
            </a:r>
            <a:r>
              <a:rPr lang="es-ES" b="1" dirty="0" err="1">
                <a:latin typeface="Calibri" panose="020F0502020204030204" pitchFamily="34" charset="0"/>
                <a:ea typeface="Calibri" panose="020F0502020204030204" pitchFamily="34" charset="0"/>
                <a:cs typeface="Calibri" panose="020F0502020204030204" pitchFamily="34" charset="0"/>
              </a:rPr>
              <a:t>Lineage</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Font typeface="Wingdings 2" charset="2"/>
              <a:buNone/>
            </a:pPr>
            <a:r>
              <a:rPr lang="es-ES" dirty="0">
                <a:latin typeface="Calibri" panose="020F0502020204030204" pitchFamily="34" charset="0"/>
                <a:ea typeface="Calibri" panose="020F0502020204030204" pitchFamily="34" charset="0"/>
                <a:cs typeface="Calibri" panose="020F0502020204030204" pitchFamily="34" charset="0"/>
              </a:rPr>
              <a:t>El gobierno exige trazabilidad corporativa. Requiere documentar exactamente de dónde nació un dato, qué cálculo matemático lo alteró y en qué tablero terminó. Así, si alguna vez falta un bloque de ventas, existe un mapa auditable para encontrar el error en el flujo sin entrar en pánico.</a:t>
            </a:r>
          </a:p>
        </p:txBody>
      </p:sp>
      <p:cxnSp>
        <p:nvCxnSpPr>
          <p:cNvPr id="7" name="Conector recto 6">
            <a:extLst>
              <a:ext uri="{FF2B5EF4-FFF2-40B4-BE49-F238E27FC236}">
                <a16:creationId xmlns:a16="http://schemas.microsoft.com/office/drawing/2014/main" id="{D875798C-07DC-79D6-DEEF-7871F92966D5}"/>
              </a:ext>
            </a:extLst>
          </p:cNvPr>
          <p:cNvCxnSpPr/>
          <p:nvPr/>
        </p:nvCxnSpPr>
        <p:spPr>
          <a:xfrm>
            <a:off x="5760720" y="1197525"/>
            <a:ext cx="0" cy="3804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268" name="Picture 4" descr="37 mil resultados de imágenes, fotos de stock e ilustraciones libres de regalías para Data governance icons | Shutterstock">
            <a:extLst>
              <a:ext uri="{FF2B5EF4-FFF2-40B4-BE49-F238E27FC236}">
                <a16:creationId xmlns:a16="http://schemas.microsoft.com/office/drawing/2014/main" id="{6A8CEC45-D86B-5312-596F-D6330D4318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0489" y="5196628"/>
            <a:ext cx="1612392" cy="161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843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E7C9B-A879-AC26-B829-92D060D37BA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407BC6-341C-B8E5-F4E1-4022CD368E0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AEA0C1D1-00B5-8251-34A4-EDD97C581EE3}"/>
              </a:ext>
            </a:extLst>
          </p:cNvPr>
          <p:cNvSpPr>
            <a:spLocks noGrp="1"/>
          </p:cNvSpPr>
          <p:nvPr>
            <p:ph idx="1"/>
          </p:nvPr>
        </p:nvSpPr>
        <p:spPr>
          <a:xfrm>
            <a:off x="391064" y="1216575"/>
            <a:ext cx="7820248" cy="4412700"/>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modelado de datos es como diseñar el </a:t>
            </a:r>
            <a:r>
              <a:rPr lang="es-ES" b="1" dirty="0">
                <a:latin typeface="Calibri" panose="020F0502020204030204" pitchFamily="34" charset="0"/>
                <a:ea typeface="Calibri" panose="020F0502020204030204" pitchFamily="34" charset="0"/>
                <a:cs typeface="Calibri" panose="020F0502020204030204" pitchFamily="34" charset="0"/>
              </a:rPr>
              <a:t>plano arquitectónico </a:t>
            </a:r>
            <a:r>
              <a:rPr lang="es-ES" dirty="0">
                <a:latin typeface="Calibri" panose="020F0502020204030204" pitchFamily="34" charset="0"/>
                <a:ea typeface="Calibri" panose="020F0502020204030204" pitchFamily="34" charset="0"/>
                <a:cs typeface="Calibri" panose="020F0502020204030204" pitchFamily="34" charset="0"/>
              </a:rPr>
              <a:t>de un gran almacén corporativo antes de empezar a guardar cajas. En lugar de arrojar toda la información en un documento desordenado e interminable, este proceso </a:t>
            </a:r>
            <a:r>
              <a:rPr lang="es-ES" b="1" dirty="0">
                <a:latin typeface="Calibri" panose="020F0502020204030204" pitchFamily="34" charset="0"/>
                <a:ea typeface="Calibri" panose="020F0502020204030204" pitchFamily="34" charset="0"/>
                <a:cs typeface="Calibri" panose="020F0502020204030204" pitchFamily="34" charset="0"/>
              </a:rPr>
              <a:t>define</a:t>
            </a:r>
            <a:r>
              <a:rPr lang="es-ES" dirty="0">
                <a:latin typeface="Calibri" panose="020F0502020204030204" pitchFamily="34" charset="0"/>
                <a:ea typeface="Calibri" panose="020F0502020204030204" pitchFamily="34" charset="0"/>
                <a:cs typeface="Calibri" panose="020F0502020204030204" pitchFamily="34" charset="0"/>
              </a:rPr>
              <a:t> </a:t>
            </a:r>
            <a:r>
              <a:rPr lang="es-ES" b="1" dirty="0">
                <a:latin typeface="Calibri" panose="020F0502020204030204" pitchFamily="34" charset="0"/>
                <a:ea typeface="Calibri" panose="020F0502020204030204" pitchFamily="34" charset="0"/>
                <a:cs typeface="Calibri" panose="020F0502020204030204" pitchFamily="34" charset="0"/>
              </a:rPr>
              <a:t>estructuralmente</a:t>
            </a:r>
            <a:r>
              <a:rPr lang="es-ES" dirty="0">
                <a:latin typeface="Calibri" panose="020F0502020204030204" pitchFamily="34" charset="0"/>
                <a:ea typeface="Calibri" panose="020F0502020204030204" pitchFamily="34" charset="0"/>
                <a:cs typeface="Calibri" panose="020F0502020204030204" pitchFamily="34" charset="0"/>
              </a:rPr>
              <a:t> dónde, cómo y bajo qué reglas debe almacenarse cada registro. </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En la práctica, este diseño organiza la información separando sistemáticamente los eventos numéricos (como el monto exacto de una venta) de sus características descriptivas (quién es el cliente, en qué sucursal ocurrió y en qué fecha). Gracias a esta estructura inteligente, cuando un directivo necesita cruzar variables para tomar una decisión urgente, la base de datos no tiene que buscar a ciegas en un mar de archivos; sabe exactamente en qué "estante" mirar para entregar reportes analíticos en cuestión de milisegundos.</a:t>
            </a:r>
          </a:p>
        </p:txBody>
      </p:sp>
      <p:pic>
        <p:nvPicPr>
          <p:cNvPr id="12290" name="Picture 2" descr="Modelado de Datos: Definición, Usos y Tipos">
            <a:extLst>
              <a:ext uri="{FF2B5EF4-FFF2-40B4-BE49-F238E27FC236}">
                <a16:creationId xmlns:a16="http://schemas.microsoft.com/office/drawing/2014/main" id="{C5266C6C-2A7E-AA6B-B602-402E69BF7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312" y="4532376"/>
            <a:ext cx="381000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704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9F61-6D65-BD01-5360-65CF7DDD46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1CBE0A-1B42-7AC6-9CA2-4ED0E9C47555}"/>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9662DE58-60BA-88FD-AFBE-9391FBA412A1}"/>
              </a:ext>
            </a:extLst>
          </p:cNvPr>
          <p:cNvSpPr>
            <a:spLocks noGrp="1"/>
          </p:cNvSpPr>
          <p:nvPr>
            <p:ph idx="1"/>
          </p:nvPr>
        </p:nvSpPr>
        <p:spPr>
          <a:xfrm>
            <a:off x="286289" y="1113536"/>
            <a:ext cx="7820248" cy="4412700"/>
          </a:xfrm>
        </p:spPr>
        <p:txBody>
          <a:bodyPr>
            <a:normAutofit fontScale="92500" lnSpcReduction="10000"/>
          </a:bodyPr>
          <a:lstStyle/>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Conceptual (El "Qué"): </a:t>
            </a:r>
            <a:r>
              <a:rPr lang="es-ES" dirty="0">
                <a:latin typeface="Calibri" panose="020F0502020204030204" pitchFamily="34" charset="0"/>
                <a:ea typeface="Calibri" panose="020F0502020204030204" pitchFamily="34" charset="0"/>
                <a:cs typeface="Calibri" panose="020F0502020204030204" pitchFamily="34" charset="0"/>
              </a:rPr>
              <a:t>Es el diseño orientado a la gerencia y al negocio. No contiene tecnología, ni código, ni tipos de datos. Solo identifica los bloques principales de información (Entidades) y cómo interactúan a un alto nivel. (Ejemplo: Un diagrama simple que muestra que un "Cliente" realiza una "Compra" de un "Producto").</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Lógico (El "Cómo"): </a:t>
            </a:r>
            <a:r>
              <a:rPr lang="es-ES" dirty="0">
                <a:latin typeface="Calibri" panose="020F0502020204030204" pitchFamily="34" charset="0"/>
                <a:ea typeface="Calibri" panose="020F0502020204030204" pitchFamily="34" charset="0"/>
                <a:cs typeface="Calibri" panose="020F0502020204030204" pitchFamily="34" charset="0"/>
              </a:rPr>
              <a:t>Es el plano arquitectónico detallado, pero independiente de la marca del software. Aquí los analistas de datos definen absolutamente todos los atributos (nombre, correo, ID, precio) y las reglas de relación (llaves primarias y foráneas). El negocio ya tiene forma, pero aún no se ha comprado el servidor.</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Físico (El "Dónde"): </a:t>
            </a:r>
            <a:r>
              <a:rPr lang="es-ES" dirty="0">
                <a:latin typeface="Calibri" panose="020F0502020204030204" pitchFamily="34" charset="0"/>
                <a:ea typeface="Calibri" panose="020F0502020204030204" pitchFamily="34" charset="0"/>
                <a:cs typeface="Calibri" panose="020F0502020204030204" pitchFamily="34" charset="0"/>
              </a:rPr>
              <a:t>Es la ejecución puramente técnica. Es el diseño lógico traducido al lenguaje exacto del motor de base de datos que la empresa compró (ej. PostgreSQL, </a:t>
            </a:r>
            <a:r>
              <a:rPr lang="es-ES" dirty="0" err="1">
                <a:latin typeface="Calibri" panose="020F0502020204030204" pitchFamily="34" charset="0"/>
                <a:ea typeface="Calibri" panose="020F0502020204030204" pitchFamily="34" charset="0"/>
                <a:cs typeface="Calibri" panose="020F0502020204030204" pitchFamily="34" charset="0"/>
              </a:rPr>
              <a:t>Snowflake</a:t>
            </a:r>
            <a:r>
              <a:rPr lang="es-ES" dirty="0">
                <a:latin typeface="Calibri" panose="020F0502020204030204" pitchFamily="34" charset="0"/>
                <a:ea typeface="Calibri" panose="020F0502020204030204" pitchFamily="34" charset="0"/>
                <a:cs typeface="Calibri" panose="020F0502020204030204" pitchFamily="34" charset="0"/>
              </a:rPr>
              <a:t>, Oracle). Aquí se definen detalles técnicos de rendimiento como particiones, índices y tipos de datos precisos (VARCHAR, INTEGER).</a:t>
            </a:r>
          </a:p>
        </p:txBody>
      </p:sp>
      <p:pic>
        <p:nvPicPr>
          <p:cNvPr id="13314" name="Picture 2" descr="Capítulo 4 Modelamiento de Datos | Base de Datos">
            <a:extLst>
              <a:ext uri="{FF2B5EF4-FFF2-40B4-BE49-F238E27FC236}">
                <a16:creationId xmlns:a16="http://schemas.microsoft.com/office/drawing/2014/main" id="{1F64540A-557E-4235-17A2-3B3304027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0549" y="3664405"/>
            <a:ext cx="3857625" cy="2755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328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D066-0B08-2704-0DB5-9A220FB3C6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38F72A-C146-7218-003B-7060E66AE988}"/>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704CE665-A318-C527-82F2-94EE34088F35}"/>
              </a:ext>
            </a:extLst>
          </p:cNvPr>
          <p:cNvSpPr>
            <a:spLocks noGrp="1"/>
          </p:cNvSpPr>
          <p:nvPr>
            <p:ph idx="1"/>
          </p:nvPr>
        </p:nvSpPr>
        <p:spPr>
          <a:xfrm>
            <a:off x="286289" y="1113537"/>
            <a:ext cx="5438236" cy="2982002"/>
          </a:xfrm>
        </p:spPr>
        <p:txBody>
          <a:bodyPr>
            <a:normAutofit/>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Modelo Relacional (Orden y Precisión): </a:t>
            </a:r>
            <a:r>
              <a:rPr lang="es-ES" dirty="0">
                <a:latin typeface="Calibri" panose="020F0502020204030204" pitchFamily="34" charset="0"/>
                <a:ea typeface="Calibri" panose="020F0502020204030204" pitchFamily="34" charset="0"/>
                <a:cs typeface="Calibri" panose="020F0502020204030204" pitchFamily="34" charset="0"/>
              </a:rPr>
              <a:t>Es el sistema basado en tablas rígidas de filas y columnas interconectadas. Su prioridad es la integridad de los datos: nada se duplica y todo debe seguir reglas estrictas de formato. Es la arquitectura obligatoria para procesos contables, financieros y operativos donde el error no es una opción y la estructura es constante.</a:t>
            </a:r>
          </a:p>
        </p:txBody>
      </p:sp>
      <p:pic>
        <p:nvPicPr>
          <p:cNvPr id="14338" name="Picture 2" descr="Software de Productividad: Notion">
            <a:extLst>
              <a:ext uri="{FF2B5EF4-FFF2-40B4-BE49-F238E27FC236}">
                <a16:creationId xmlns:a16="http://schemas.microsoft.com/office/drawing/2014/main" id="{99756E09-1CF7-4E3E-CCED-1FC6A67A8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803" y="4095538"/>
            <a:ext cx="5029621" cy="2514811"/>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FDDA5948-25E7-AD6C-60BB-A2408752F7EE}"/>
              </a:ext>
            </a:extLst>
          </p:cNvPr>
          <p:cNvSpPr txBox="1">
            <a:spLocks/>
          </p:cNvSpPr>
          <p:nvPr/>
        </p:nvSpPr>
        <p:spPr>
          <a:xfrm>
            <a:off x="6191789" y="1113535"/>
            <a:ext cx="5438236" cy="298200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Modelo No Relacional (Flexibilidad y Escala): </a:t>
            </a:r>
            <a:r>
              <a:rPr lang="es-ES" dirty="0">
                <a:latin typeface="Calibri" panose="020F0502020204030204" pitchFamily="34" charset="0"/>
                <a:ea typeface="Calibri" panose="020F0502020204030204" pitchFamily="34" charset="0"/>
                <a:cs typeface="Calibri" panose="020F0502020204030204" pitchFamily="34" charset="0"/>
              </a:rPr>
              <a:t>Es un sistema de almacenamiento libre que no utiliza tablas fijas, sino formatos dinámicos (como documentos o carpetas). Su prioridad es la velocidad y la agilidad: permite guardar datos muy distintos entre sí sin previo aviso. Es la arquitectura ideal para Big Data, redes sociales y aplicaciones móviles que crecen masivamente y cambian constantemente.</a:t>
            </a:r>
          </a:p>
        </p:txBody>
      </p:sp>
    </p:spTree>
    <p:extLst>
      <p:ext uri="{BB962C8B-B14F-4D97-AF65-F5344CB8AC3E}">
        <p14:creationId xmlns:p14="http://schemas.microsoft.com/office/powerpoint/2010/main" val="306679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38EA-3C9F-371E-785F-CBC6E2AAD5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A4E953-ED4B-D64B-7AC3-AD1D192F4DDE}"/>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E8136CC0-C719-E66A-0371-03D8F53FC967}"/>
              </a:ext>
            </a:extLst>
          </p:cNvPr>
          <p:cNvSpPr>
            <a:spLocks noGrp="1"/>
          </p:cNvSpPr>
          <p:nvPr>
            <p:ph idx="1"/>
          </p:nvPr>
        </p:nvSpPr>
        <p:spPr>
          <a:xfrm>
            <a:off x="286289" y="1113537"/>
            <a:ext cx="5438236" cy="2982002"/>
          </a:xfrm>
        </p:spPr>
        <p:txBody>
          <a:bodyPr>
            <a:normAutofit/>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Modelado Relacional (SQL)</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Modelo Estrella (Dimensional): Una gran Tabla de Hechos en el centro rodeada de Tablas de Dimensiones planas. </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Modelo Copo de Nieve (Dimensional): Mantiene los hechos en el centro, pero ramifica las dimensiones (las divide) para ahorrar espacio en el servidor de la nube.</a:t>
            </a:r>
          </a:p>
        </p:txBody>
      </p:sp>
      <p:pic>
        <p:nvPicPr>
          <p:cNvPr id="14338" name="Picture 2" descr="Software de Productividad: Notion">
            <a:extLst>
              <a:ext uri="{FF2B5EF4-FFF2-40B4-BE49-F238E27FC236}">
                <a16:creationId xmlns:a16="http://schemas.microsoft.com/office/drawing/2014/main" id="{CEDFA1D6-49EB-A73A-761F-F34E13359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4045" y="4299013"/>
            <a:ext cx="4640960" cy="2320480"/>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7A0429DE-38C7-14CD-0645-1C8D4E134330}"/>
              </a:ext>
            </a:extLst>
          </p:cNvPr>
          <p:cNvSpPr txBox="1">
            <a:spLocks/>
          </p:cNvSpPr>
          <p:nvPr/>
        </p:nvSpPr>
        <p:spPr>
          <a:xfrm>
            <a:off x="6096000" y="1113536"/>
            <a:ext cx="5438236" cy="298200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Modelado No Relacional (NoSQL)</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Documental: </a:t>
            </a:r>
            <a:r>
              <a:rPr lang="es-ES" dirty="0">
                <a:latin typeface="Calibri" panose="020F0502020204030204" pitchFamily="34" charset="0"/>
                <a:ea typeface="Calibri" panose="020F0502020204030204" pitchFamily="34" charset="0"/>
                <a:cs typeface="Calibri" panose="020F0502020204030204" pitchFamily="34" charset="0"/>
              </a:rPr>
              <a:t>Guarda la información en archivos parecidos a etiquetas (formato JSON), no en tablas. </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Clave-Valor: </a:t>
            </a:r>
            <a:r>
              <a:rPr lang="es-ES" dirty="0">
                <a:latin typeface="Calibri" panose="020F0502020204030204" pitchFamily="34" charset="0"/>
                <a:ea typeface="Calibri" panose="020F0502020204030204" pitchFamily="34" charset="0"/>
                <a:cs typeface="Calibri" panose="020F0502020204030204" pitchFamily="34" charset="0"/>
              </a:rPr>
              <a:t>Es como un diccionario </a:t>
            </a:r>
            <a:r>
              <a:rPr lang="es-ES" dirty="0" err="1">
                <a:latin typeface="Calibri" panose="020F0502020204030204" pitchFamily="34" charset="0"/>
                <a:ea typeface="Calibri" panose="020F0502020204030204" pitchFamily="34" charset="0"/>
                <a:cs typeface="Calibri" panose="020F0502020204030204" pitchFamily="34" charset="0"/>
              </a:rPr>
              <a:t>ultra-rápido</a:t>
            </a:r>
            <a:r>
              <a:rPr lang="es-ES" dirty="0">
                <a:latin typeface="Calibri" panose="020F0502020204030204" pitchFamily="34" charset="0"/>
                <a:ea typeface="Calibri" panose="020F0502020204030204" pitchFamily="34" charset="0"/>
                <a:cs typeface="Calibri" panose="020F0502020204030204" pitchFamily="34" charset="0"/>
              </a:rPr>
              <a:t> de dos columnas (una llave única y su contenido). </a:t>
            </a:r>
          </a:p>
        </p:txBody>
      </p:sp>
    </p:spTree>
    <p:extLst>
      <p:ext uri="{BB962C8B-B14F-4D97-AF65-F5344CB8AC3E}">
        <p14:creationId xmlns:p14="http://schemas.microsoft.com/office/powerpoint/2010/main" val="1897393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85968-08A9-EE03-5E7E-9CC77D4EC8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835B89-2845-F369-94A6-4A66033FE89A}"/>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CRM (</a:t>
            </a:r>
            <a:r>
              <a:rPr lang="es-ES" dirty="0" err="1">
                <a:latin typeface="Calibri" panose="020F0502020204030204" pitchFamily="34" charset="0"/>
                <a:ea typeface="Calibri" panose="020F0502020204030204" pitchFamily="34" charset="0"/>
                <a:cs typeface="Calibri" panose="020F0502020204030204" pitchFamily="34" charset="0"/>
              </a:rPr>
              <a:t>Customer</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Relationship</a:t>
            </a:r>
            <a:r>
              <a:rPr lang="es-ES" dirty="0">
                <a:latin typeface="Calibri" panose="020F0502020204030204" pitchFamily="34" charset="0"/>
                <a:ea typeface="Calibri" panose="020F0502020204030204" pitchFamily="34" charset="0"/>
                <a:cs typeface="Calibri" panose="020F0502020204030204" pitchFamily="34" charset="0"/>
              </a:rPr>
              <a:t> Management)</a:t>
            </a:r>
          </a:p>
        </p:txBody>
      </p:sp>
      <p:sp>
        <p:nvSpPr>
          <p:cNvPr id="3" name="Marcador de contenido 2">
            <a:extLst>
              <a:ext uri="{FF2B5EF4-FFF2-40B4-BE49-F238E27FC236}">
                <a16:creationId xmlns:a16="http://schemas.microsoft.com/office/drawing/2014/main" id="{0A16F778-3F2E-39C9-65BA-164F1B45F90E}"/>
              </a:ext>
            </a:extLst>
          </p:cNvPr>
          <p:cNvSpPr>
            <a:spLocks noGrp="1"/>
          </p:cNvSpPr>
          <p:nvPr>
            <p:ph idx="1"/>
          </p:nvPr>
        </p:nvSpPr>
        <p:spPr>
          <a:xfrm>
            <a:off x="248188" y="1656461"/>
            <a:ext cx="7559263" cy="3815079"/>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a:t>
            </a:r>
            <a:r>
              <a:rPr lang="es-ES" b="1" dirty="0">
                <a:latin typeface="Calibri" panose="020F0502020204030204" pitchFamily="34" charset="0"/>
                <a:ea typeface="Calibri" panose="020F0502020204030204" pitchFamily="34" charset="0"/>
                <a:cs typeface="Calibri" panose="020F0502020204030204" pitchFamily="34" charset="0"/>
              </a:rPr>
              <a:t>CRM</a:t>
            </a:r>
            <a:r>
              <a:rPr lang="es-ES" dirty="0">
                <a:latin typeface="Calibri" panose="020F0502020204030204" pitchFamily="34" charset="0"/>
                <a:ea typeface="Calibri" panose="020F0502020204030204" pitchFamily="34" charset="0"/>
                <a:cs typeface="Calibri" panose="020F0502020204030204" pitchFamily="34" charset="0"/>
              </a:rPr>
              <a:t> es la plataforma tecnológica y estratégica diseñada para centralizar, registrar y analizar absolutamente todas las interacciones que una empresa tiene con sus clientes actuales y potenciales.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Su </a:t>
            </a:r>
            <a:r>
              <a:rPr lang="es-ES" b="1" dirty="0">
                <a:latin typeface="Calibri" panose="020F0502020204030204" pitchFamily="34" charset="0"/>
                <a:ea typeface="Calibri" panose="020F0502020204030204" pitchFamily="34" charset="0"/>
                <a:cs typeface="Calibri" panose="020F0502020204030204" pitchFamily="34" charset="0"/>
              </a:rPr>
              <a:t>objetivo</a:t>
            </a:r>
            <a:r>
              <a:rPr lang="es-ES" dirty="0">
                <a:latin typeface="Calibri" panose="020F0502020204030204" pitchFamily="34" charset="0"/>
                <a:ea typeface="Calibri" panose="020F0502020204030204" pitchFamily="34" charset="0"/>
                <a:cs typeface="Calibri" panose="020F0502020204030204" pitchFamily="34" charset="0"/>
              </a:rPr>
              <a:t> </a:t>
            </a:r>
            <a:r>
              <a:rPr lang="es-ES" b="1" dirty="0">
                <a:latin typeface="Calibri" panose="020F0502020204030204" pitchFamily="34" charset="0"/>
                <a:ea typeface="Calibri" panose="020F0502020204030204" pitchFamily="34" charset="0"/>
                <a:cs typeface="Calibri" panose="020F0502020204030204" pitchFamily="34" charset="0"/>
              </a:rPr>
              <a:t>central</a:t>
            </a:r>
            <a:r>
              <a:rPr lang="es-ES" dirty="0">
                <a:latin typeface="Calibri" panose="020F0502020204030204" pitchFamily="34" charset="0"/>
                <a:ea typeface="Calibri" panose="020F0502020204030204" pitchFamily="34" charset="0"/>
                <a:cs typeface="Calibri" panose="020F0502020204030204" pitchFamily="34" charset="0"/>
              </a:rPr>
              <a:t> es dominar el ciclo de vida del cliente: desde que es un prospecto captado por marketing, pasando por las negociaciones del equipo de ventas, hasta llegar a los tickets de quejas o dudas en el servicio de postventa. Es la memoria institucional de la empresa sobre quién compra y por qué compra.</a:t>
            </a:r>
          </a:p>
        </p:txBody>
      </p:sp>
      <p:pic>
        <p:nvPicPr>
          <p:cNvPr id="1026" name="Picture 2" descr="What Is CRM (Customer Relationship Management)? - Germius">
            <a:extLst>
              <a:ext uri="{FF2B5EF4-FFF2-40B4-BE49-F238E27FC236}">
                <a16:creationId xmlns:a16="http://schemas.microsoft.com/office/drawing/2014/main" id="{C3E55042-F84C-3F3E-6084-7D6C76904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4314" y="3295650"/>
            <a:ext cx="3765885"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462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21F62-913B-B347-862E-8708C64982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2A1286-62A6-769F-E2DE-B698D8185AB1}"/>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CRM (</a:t>
            </a:r>
            <a:r>
              <a:rPr lang="es-ES" dirty="0" err="1">
                <a:latin typeface="Calibri" panose="020F0502020204030204" pitchFamily="34" charset="0"/>
                <a:ea typeface="Calibri" panose="020F0502020204030204" pitchFamily="34" charset="0"/>
                <a:cs typeface="Calibri" panose="020F0502020204030204" pitchFamily="34" charset="0"/>
              </a:rPr>
              <a:t>Customer</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Relationship</a:t>
            </a:r>
            <a:r>
              <a:rPr lang="es-ES" dirty="0">
                <a:latin typeface="Calibri" panose="020F0502020204030204" pitchFamily="34" charset="0"/>
                <a:ea typeface="Calibri" panose="020F0502020204030204" pitchFamily="34" charset="0"/>
                <a:cs typeface="Calibri" panose="020F0502020204030204" pitchFamily="34" charset="0"/>
              </a:rPr>
              <a:t> Management)</a:t>
            </a:r>
          </a:p>
        </p:txBody>
      </p:sp>
      <p:sp>
        <p:nvSpPr>
          <p:cNvPr id="3" name="Marcador de contenido 2">
            <a:extLst>
              <a:ext uri="{FF2B5EF4-FFF2-40B4-BE49-F238E27FC236}">
                <a16:creationId xmlns:a16="http://schemas.microsoft.com/office/drawing/2014/main" id="{82C8E4EA-DBCD-2F7F-3E61-649463647D54}"/>
              </a:ext>
            </a:extLst>
          </p:cNvPr>
          <p:cNvSpPr>
            <a:spLocks noGrp="1"/>
          </p:cNvSpPr>
          <p:nvPr>
            <p:ph idx="1"/>
          </p:nvPr>
        </p:nvSpPr>
        <p:spPr>
          <a:xfrm>
            <a:off x="95788" y="1656460"/>
            <a:ext cx="7559263" cy="3815079"/>
          </a:xfrm>
        </p:spPr>
        <p:txBody>
          <a:bodyPr>
            <a:normAutofit fontScale="77500" lnSpcReduction="20000"/>
          </a:bodyPr>
          <a:lstStyle/>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Extracción y Transformación (Python): </a:t>
            </a:r>
            <a:r>
              <a:rPr lang="es-ES" dirty="0">
                <a:latin typeface="Calibri" panose="020F0502020204030204" pitchFamily="34" charset="0"/>
                <a:ea typeface="Calibri" panose="020F0502020204030204" pitchFamily="34" charset="0"/>
                <a:cs typeface="Calibri" panose="020F0502020204030204" pitchFamily="34" charset="0"/>
              </a:rPr>
              <a:t>El lenguaje central para el movimiento de datos. Mediante la librería </a:t>
            </a:r>
            <a:r>
              <a:rPr lang="es-ES" dirty="0" err="1">
                <a:latin typeface="Calibri" panose="020F0502020204030204" pitchFamily="34" charset="0"/>
                <a:ea typeface="Calibri" panose="020F0502020204030204" pitchFamily="34" charset="0"/>
                <a:cs typeface="Calibri" panose="020F0502020204030204" pitchFamily="34" charset="0"/>
              </a:rPr>
              <a:t>requests</a:t>
            </a:r>
            <a:r>
              <a:rPr lang="es-ES" dirty="0">
                <a:latin typeface="Calibri" panose="020F0502020204030204" pitchFamily="34" charset="0"/>
                <a:ea typeface="Calibri" panose="020F0502020204030204" pitchFamily="34" charset="0"/>
                <a:cs typeface="Calibri" panose="020F0502020204030204" pitchFamily="34" charset="0"/>
              </a:rPr>
              <a:t>, se conecta directamente a las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 del CRM (o cualquier otro sistema) para extraer la información. Posteriormente, utiliza la librería pandas para limpiar, estructurar y procesar los registros en memoria antes de cargarlos.</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Orquestación y Automatización (Apache </a:t>
            </a:r>
            <a:r>
              <a:rPr lang="es-ES" b="1" dirty="0" err="1">
                <a:latin typeface="Calibri" panose="020F0502020204030204" pitchFamily="34" charset="0"/>
                <a:ea typeface="Calibri" panose="020F0502020204030204" pitchFamily="34" charset="0"/>
                <a:cs typeface="Calibri" panose="020F0502020204030204" pitchFamily="34" charset="0"/>
              </a:rPr>
              <a:t>Airflow</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Es la plataforma que gobierna y monitorea los flujos de datos. Se encarga de programar los horarios exactos de ejecución de los scripts (ej. actualización nocturna) y gestiona el orden de las tareas, dependencias y alertas en caso de que algún proceso falle.</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Almacenamiento Analítico (PostgreSQL): </a:t>
            </a:r>
            <a:r>
              <a:rPr lang="es-ES" dirty="0">
                <a:latin typeface="Calibri" panose="020F0502020204030204" pitchFamily="34" charset="0"/>
                <a:ea typeface="Calibri" panose="020F0502020204030204" pitchFamily="34" charset="0"/>
                <a:cs typeface="Calibri" panose="020F0502020204030204" pitchFamily="34" charset="0"/>
              </a:rPr>
              <a:t>Actúa como el motor de base de datos relacional central. Recibe la información ya procesada y sirve como la infraestructura robusta donde se construyen y alojan las tablas de hechos y dimensiones que conforman el almacén de datos.</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Visualización e Inteligencia de Negocios (</a:t>
            </a:r>
            <a:r>
              <a:rPr lang="es-ES" b="1" dirty="0" err="1">
                <a:latin typeface="Calibri" panose="020F0502020204030204" pitchFamily="34" charset="0"/>
                <a:ea typeface="Calibri" panose="020F0502020204030204" pitchFamily="34" charset="0"/>
                <a:cs typeface="Calibri" panose="020F0502020204030204" pitchFamily="34" charset="0"/>
              </a:rPr>
              <a:t>Metabase</a:t>
            </a:r>
            <a:r>
              <a:rPr lang="es-ES" b="1" dirty="0">
                <a:latin typeface="Calibri" panose="020F0502020204030204" pitchFamily="34" charset="0"/>
                <a:ea typeface="Calibri" panose="020F0502020204030204" pitchFamily="34" charset="0"/>
                <a:cs typeface="Calibri" panose="020F0502020204030204" pitchFamily="34" charset="0"/>
              </a:rPr>
              <a:t> / Apache </a:t>
            </a:r>
            <a:r>
              <a:rPr lang="es-ES" b="1" dirty="0" err="1">
                <a:latin typeface="Calibri" panose="020F0502020204030204" pitchFamily="34" charset="0"/>
                <a:ea typeface="Calibri" panose="020F0502020204030204" pitchFamily="34" charset="0"/>
                <a:cs typeface="Calibri" panose="020F0502020204030204" pitchFamily="34" charset="0"/>
              </a:rPr>
              <a:t>Superset</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Son las plataformas de BI que dan salida a la información. Se conectan directamente a PostgreSQL para que los usuarios de negocio puedan consultar los datos, crear tableros de control dinámicos y generar reportes vía web.</a:t>
            </a:r>
          </a:p>
        </p:txBody>
      </p:sp>
      <p:pic>
        <p:nvPicPr>
          <p:cNvPr id="5" name="Imagen 4">
            <a:extLst>
              <a:ext uri="{FF2B5EF4-FFF2-40B4-BE49-F238E27FC236}">
                <a16:creationId xmlns:a16="http://schemas.microsoft.com/office/drawing/2014/main" id="{579714AC-4675-10A8-019C-FD025E5E2209}"/>
              </a:ext>
            </a:extLst>
          </p:cNvPr>
          <p:cNvPicPr>
            <a:picLocks noChangeAspect="1"/>
          </p:cNvPicPr>
          <p:nvPr/>
        </p:nvPicPr>
        <p:blipFill>
          <a:blip r:embed="rId3"/>
          <a:stretch>
            <a:fillRect/>
          </a:stretch>
        </p:blipFill>
        <p:spPr>
          <a:xfrm>
            <a:off x="7807451" y="4256094"/>
            <a:ext cx="4219037" cy="2430891"/>
          </a:xfrm>
          <a:prstGeom prst="rect">
            <a:avLst/>
          </a:prstGeom>
        </p:spPr>
      </p:pic>
    </p:spTree>
    <p:extLst>
      <p:ext uri="{BB962C8B-B14F-4D97-AF65-F5344CB8AC3E}">
        <p14:creationId xmlns:p14="http://schemas.microsoft.com/office/powerpoint/2010/main" val="3454636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TM04033929[[fn=Pizarra]]</Template>
  <TotalTime>664</TotalTime>
  <Words>2574</Words>
  <Application>Microsoft Office PowerPoint</Application>
  <PresentationFormat>Panorámica</PresentationFormat>
  <Paragraphs>85</Paragraphs>
  <Slides>17</Slides>
  <Notes>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Aptos</vt:lpstr>
      <vt:lpstr>Arial</vt:lpstr>
      <vt:lpstr>Calibri</vt:lpstr>
      <vt:lpstr>Calisto MT</vt:lpstr>
      <vt:lpstr>Wingdings 2</vt:lpstr>
      <vt:lpstr>Pizarra</vt:lpstr>
      <vt:lpstr>Diseño de procesos ETL</vt:lpstr>
      <vt:lpstr>Caso: "Librería El Faro"</vt:lpstr>
      <vt:lpstr>Caso: "Manufacturas Apex y el Salto a la Nube"</vt:lpstr>
      <vt:lpstr>¿Qué son los procesos ETL?</vt:lpstr>
      <vt:lpstr>¿Por qué se inventaron los procesos ETL?</vt:lpstr>
      <vt:lpstr>El Viaje de los datos</vt:lpstr>
      <vt:lpstr>Extracción</vt:lpstr>
      <vt:lpstr>Transformación</vt:lpstr>
      <vt:lpstr>Carga</vt:lpstr>
      <vt:lpstr>Riesgos</vt:lpstr>
      <vt:lpstr>Gobierno de datos</vt:lpstr>
      <vt:lpstr>Modelado de Datos</vt:lpstr>
      <vt:lpstr>Modelado de Datos</vt:lpstr>
      <vt:lpstr>Modelado de Datos</vt:lpstr>
      <vt:lpstr>Modelado de Datos</vt:lpstr>
      <vt:lpstr>CRM (Customer Relationship Management)</vt:lpstr>
      <vt:lpstr>CRM (Customer Relationship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Sebastián Arbeláez Trujillo</dc:creator>
  <cp:lastModifiedBy>Juan Sebastián Arbeláez Trujillo</cp:lastModifiedBy>
  <cp:revision>9</cp:revision>
  <dcterms:created xsi:type="dcterms:W3CDTF">2026-04-13T12:35:48Z</dcterms:created>
  <dcterms:modified xsi:type="dcterms:W3CDTF">2026-04-15T09:21:48Z</dcterms:modified>
</cp:coreProperties>
</file>